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8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654" autoAdjust="0"/>
  </p:normalViewPr>
  <p:slideViewPr>
    <p:cSldViewPr snapToGrid="0">
      <p:cViewPr varScale="1">
        <p:scale>
          <a:sx n="66" d="100"/>
          <a:sy n="66" d="100"/>
        </p:scale>
        <p:origin x="13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73F182-31D9-48C6-AA78-B271D95C0E9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04D62-BDE0-416B-B808-718FCF57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36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verzije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osnovnoj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optimizovanoj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konstrukciju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Sufiksnog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Niza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BWT-a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korišćen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efikasan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divsufsort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Ovo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neophodno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veliki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genomski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mogli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obraditi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razumnom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omogućilo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poređenje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04D62-BDE0-416B-B808-718FCF5751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29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50A4-EF54-7D85-A82F-55F439C0B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C23F8-AAEA-FA71-73CF-8DFC8AFE5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858BF-B5C4-EAAE-B16B-E35BE8627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E7EAB-07C9-CA57-8391-C4E148F8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C8FB1-4E24-387E-33CE-62A19989D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8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54EB1-0EAA-441A-7C68-457A9CD4E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C0D32-BCF0-6A38-768F-663B05519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AAF10-DA7B-13C5-101F-6DD37917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AC0B9-35C0-84AD-903F-70AB55A3C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02C98-8512-0C9D-78A6-73FEBF65C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7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6C82D-8D98-E728-B405-DF72D2515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C842A-067A-8D42-2596-312E77244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2F24E-39ED-E3A1-317E-16F06ECB7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36E9F-D489-208A-6CBD-817186162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06DAD-9716-C8A7-AE61-58D3E316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FE9B5-A8C8-2517-4256-A626D590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3B92-A270-CEC9-ACC1-6D39BB730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BEBC8-733D-1B29-B10B-0E3799B05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36724-C2BD-1810-8476-E5A87466D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FEF1-6E03-3CB0-12F9-9ED46988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AEA11-12AB-07B7-AD79-4B03FDAF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00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DB59-29B5-3BE8-BCF8-291D4538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F78EF-DFB6-AD30-21EF-59189D4E5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70AA5-8BA0-95E4-6E97-C0D233616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545C08-71B4-C58A-B582-9B52ED47B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05274-263F-CB98-9692-364D6BC179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30BB2-3D77-1F96-3A9E-E133CDB5A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B1C1A1-FFFD-55CB-8A63-CB0DACF66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C2D573-74C8-84E8-6456-9C7E2003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0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7A333-E708-F33F-46FA-0397E8FF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BAA270-3248-A170-35C0-1319742C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50D953-0402-0750-18FA-A7D1CFAF7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D4371-34BD-F209-5F88-7C1FC7AA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0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591E1-1A74-18A0-4D95-55368EC21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BF594-3BF0-AA7D-9305-D8682D8A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C800-DFAF-E5CC-AD08-0FAAE869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86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92FB-E621-83E8-B726-8F66FF776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99C4-3814-47FC-51BA-B090A0FD2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A4B42-1855-0B77-329E-239FD5CE4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72DD8-0651-5E2A-C87D-A688BAC8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4908D-5A8A-083E-97C6-E7C5EBDE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0A747-5711-B737-8883-5A2ADF01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8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5601-048F-787E-E2A7-9D2FE86A3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EFA55-E91C-122F-5555-A6DEA837E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A1C63-7241-B852-CC2E-B6C6E531B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DA94E-4254-29E9-1876-E53DA63E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79EF9-8482-5607-F2E7-9B2B0D65F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FCC4D-BF82-AB3E-568F-38185547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64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F33A-5247-3DA1-6F61-4D674593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5F532-E188-7594-B35A-A0553D9DC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BCDAC-A968-F5CD-61B6-82F345A48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C33EA-50C1-CB49-F3C4-3026B056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5A221-79CB-08BA-6D90-028D3273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53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A9D227-C65D-C7DD-55DA-0E8B73818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E233D-59E5-5F6C-1482-D85F0E464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CE2E6-6E12-64C9-48EA-9517FD96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F5538-268C-0BD4-BA33-589FE55B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E8287-58D0-D028-F8F4-45AF675E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6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3B47EC-0EA3-4304-9895-08A2D9E26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80147-C170-516C-DDFF-7739E293A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21103-42D7-DA98-E721-6FD8B05D2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5CAEB-1E40-4CD7-9AB3-AC048F29DA40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835AA-BA8E-898B-663F-E7A2C58A9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543C-ED91-FA02-8342-A8B346CD2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132ED-9698-4669-BC6D-42EB333B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5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68974-E8EB-1B1F-921D-5978A4175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9851" y="1425234"/>
            <a:ext cx="7171990" cy="183734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Burrows-Wheeler </a:t>
            </a:r>
            <a:r>
              <a:rPr lang="en-US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transformacija</a:t>
            </a:r>
            <a:r>
              <a:rPr lang="en-US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FM index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B4008BD-35DB-99ED-6290-6E9C5162B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6138" y="3385523"/>
            <a:ext cx="5919417" cy="2430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 err="1">
                <a:solidFill>
                  <a:schemeClr val="tx2"/>
                </a:solidFill>
              </a:rPr>
              <a:t>Projektni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zadatak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iz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predmeta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Genomska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informatika</a:t>
            </a:r>
            <a:endParaRPr lang="en-US" sz="2800" dirty="0">
              <a:solidFill>
                <a:schemeClr val="tx2"/>
              </a:solidFill>
            </a:endParaRPr>
          </a:p>
          <a:p>
            <a:r>
              <a:rPr lang="en-US" sz="2800" dirty="0" err="1">
                <a:solidFill>
                  <a:schemeClr val="tx2"/>
                </a:solidFill>
              </a:rPr>
              <a:t>Studenti</a:t>
            </a:r>
            <a:r>
              <a:rPr lang="en-US" sz="2800" dirty="0">
                <a:solidFill>
                  <a:schemeClr val="tx2"/>
                </a:solidFill>
              </a:rPr>
              <a:t>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Teodora </a:t>
            </a:r>
            <a:r>
              <a:rPr lang="en-US" sz="2800" dirty="0" err="1">
                <a:solidFill>
                  <a:schemeClr val="tx2"/>
                </a:solidFill>
              </a:rPr>
              <a:t>Srećković</a:t>
            </a:r>
            <a:r>
              <a:rPr lang="en-US" sz="2800" dirty="0">
                <a:solidFill>
                  <a:schemeClr val="tx2"/>
                </a:solidFill>
              </a:rPr>
              <a:t> 2024/3250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Anastasija Rakić 2024/3105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4" y="3658536"/>
            <a:ext cx="3655725" cy="2743201"/>
            <a:chOff x="-305" y="-1"/>
            <a:chExt cx="3832880" cy="2876136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4330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095DE6E-B6E8-9563-3D15-1190575AE4CE}"/>
              </a:ext>
            </a:extLst>
          </p:cNvPr>
          <p:cNvSpPr/>
          <p:nvPr/>
        </p:nvSpPr>
        <p:spPr>
          <a:xfrm>
            <a:off x="6912076" y="1019814"/>
            <a:ext cx="4363065" cy="2544953"/>
          </a:xfrm>
          <a:prstGeom prst="rect">
            <a:avLst/>
          </a:prstGeom>
          <a:solidFill>
            <a:srgbClr val="99CCFF">
              <a:alpha val="16863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581479-2F37-A712-463C-A60058A53F62}"/>
              </a:ext>
            </a:extLst>
          </p:cNvPr>
          <p:cNvSpPr/>
          <p:nvPr/>
        </p:nvSpPr>
        <p:spPr>
          <a:xfrm>
            <a:off x="508206" y="1019814"/>
            <a:ext cx="6403870" cy="2544953"/>
          </a:xfrm>
          <a:prstGeom prst="rect">
            <a:avLst/>
          </a:prstGeom>
          <a:solidFill>
            <a:srgbClr val="FFCC99">
              <a:alpha val="16863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6ABC3-5E52-C07D-95A6-37CBC725A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12" y="121292"/>
            <a:ext cx="10515600" cy="1325563"/>
          </a:xfrm>
        </p:spPr>
        <p:txBody>
          <a:bodyPr>
            <a:normAutofit/>
          </a:bodyPr>
          <a:lstStyle/>
          <a:p>
            <a:r>
              <a:rPr lang="sr-Latn-RS" sz="3200" dirty="0"/>
              <a:t>Burrows-Wheeler transformacija</a:t>
            </a:r>
            <a:endParaRPr lang="en-US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536B9C-B8F8-50AD-6A06-EF895E8515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255766"/>
              </p:ext>
            </p:extLst>
          </p:nvPr>
        </p:nvGraphicFramePr>
        <p:xfrm>
          <a:off x="508206" y="1020195"/>
          <a:ext cx="6403870" cy="254457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80774">
                  <a:extLst>
                    <a:ext uri="{9D8B030D-6E8A-4147-A177-3AD203B41FA5}">
                      <a16:colId xmlns:a16="http://schemas.microsoft.com/office/drawing/2014/main" val="3489174784"/>
                    </a:ext>
                  </a:extLst>
                </a:gridCol>
                <a:gridCol w="1280774">
                  <a:extLst>
                    <a:ext uri="{9D8B030D-6E8A-4147-A177-3AD203B41FA5}">
                      <a16:colId xmlns:a16="http://schemas.microsoft.com/office/drawing/2014/main" val="1881137283"/>
                    </a:ext>
                  </a:extLst>
                </a:gridCol>
                <a:gridCol w="1280774">
                  <a:extLst>
                    <a:ext uri="{9D8B030D-6E8A-4147-A177-3AD203B41FA5}">
                      <a16:colId xmlns:a16="http://schemas.microsoft.com/office/drawing/2014/main" val="1937177799"/>
                    </a:ext>
                  </a:extLst>
                </a:gridCol>
                <a:gridCol w="1280774">
                  <a:extLst>
                    <a:ext uri="{9D8B030D-6E8A-4147-A177-3AD203B41FA5}">
                      <a16:colId xmlns:a16="http://schemas.microsoft.com/office/drawing/2014/main" val="3944501252"/>
                    </a:ext>
                  </a:extLst>
                </a:gridCol>
                <a:gridCol w="1280774">
                  <a:extLst>
                    <a:ext uri="{9D8B030D-6E8A-4147-A177-3AD203B41FA5}">
                      <a16:colId xmlns:a16="http://schemas.microsoft.com/office/drawing/2014/main" val="2225055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 dirty="0" err="1">
                          <a:effectLst/>
                        </a:rPr>
                        <a:t>i</a:t>
                      </a:r>
                      <a:endParaRPr lang="en-US" b="1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 dirty="0" err="1">
                          <a:effectLst/>
                        </a:rPr>
                        <a:t>Rotacije</a:t>
                      </a:r>
                      <a:endParaRPr lang="en-US" b="1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Sortirane rotacije</a:t>
                      </a:r>
                      <a:endParaRPr lang="en-US" b="1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F (Prva)</a:t>
                      </a:r>
                      <a:endParaRPr lang="en-US" b="1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 dirty="0">
                          <a:effectLst/>
                        </a:rPr>
                        <a:t>L (</a:t>
                      </a:r>
                      <a:r>
                        <a:rPr lang="en-US" b="1" dirty="0" err="1">
                          <a:effectLst/>
                        </a:rPr>
                        <a:t>Poslednja</a:t>
                      </a:r>
                      <a:r>
                        <a:rPr lang="en-US" b="1" dirty="0">
                          <a:effectLst/>
                        </a:rPr>
                        <a:t>)</a:t>
                      </a:r>
                      <a:endParaRPr lang="en-US" b="1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5940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0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BANANA$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$BANANA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 dirty="0">
                          <a:effectLst/>
                        </a:rPr>
                        <a:t>$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731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1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ANANA$B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A$BANAN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 dirty="0">
                          <a:effectLst/>
                        </a:rPr>
                        <a:t>A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N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41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2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NANA$BA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ANA$BAN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 dirty="0">
                          <a:effectLst/>
                        </a:rPr>
                        <a:t>A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N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170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3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ANA$BAN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ANANA$B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A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B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4429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4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NA$BANA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BANANA$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B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$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474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5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A$BANAN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NA$BANA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N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040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6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$BANANA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NANA$BA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N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A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532993"/>
                  </a:ext>
                </a:extLst>
              </a:tr>
            </a:tbl>
          </a:graphicData>
        </a:graphic>
      </p:graphicFrame>
      <p:sp>
        <p:nvSpPr>
          <p:cNvPr id="17" name="Title 1">
            <a:extLst>
              <a:ext uri="{FF2B5EF4-FFF2-40B4-BE49-F238E27FC236}">
                <a16:creationId xmlns:a16="http://schemas.microsoft.com/office/drawing/2014/main" id="{D3F75129-BCC1-ED3E-4128-2A3D08AAD6A7}"/>
              </a:ext>
            </a:extLst>
          </p:cNvPr>
          <p:cNvSpPr txBox="1">
            <a:spLocks/>
          </p:cNvSpPr>
          <p:nvPr/>
        </p:nvSpPr>
        <p:spPr>
          <a:xfrm>
            <a:off x="6987970" y="121291"/>
            <a:ext cx="4266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sz="3200" dirty="0"/>
              <a:t>FM index</a:t>
            </a:r>
            <a:endParaRPr lang="en-US" sz="3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8E5DE45-A057-68DD-BB71-73699D2D5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28474"/>
              </p:ext>
            </p:extLst>
          </p:nvPr>
        </p:nvGraphicFramePr>
        <p:xfrm>
          <a:off x="6912076" y="1020195"/>
          <a:ext cx="4363065" cy="254495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72613">
                  <a:extLst>
                    <a:ext uri="{9D8B030D-6E8A-4147-A177-3AD203B41FA5}">
                      <a16:colId xmlns:a16="http://schemas.microsoft.com/office/drawing/2014/main" val="504391349"/>
                    </a:ext>
                  </a:extLst>
                </a:gridCol>
                <a:gridCol w="872613">
                  <a:extLst>
                    <a:ext uri="{9D8B030D-6E8A-4147-A177-3AD203B41FA5}">
                      <a16:colId xmlns:a16="http://schemas.microsoft.com/office/drawing/2014/main" val="3595451701"/>
                    </a:ext>
                  </a:extLst>
                </a:gridCol>
                <a:gridCol w="872613">
                  <a:extLst>
                    <a:ext uri="{9D8B030D-6E8A-4147-A177-3AD203B41FA5}">
                      <a16:colId xmlns:a16="http://schemas.microsoft.com/office/drawing/2014/main" val="1036463801"/>
                    </a:ext>
                  </a:extLst>
                </a:gridCol>
                <a:gridCol w="872613">
                  <a:extLst>
                    <a:ext uri="{9D8B030D-6E8A-4147-A177-3AD203B41FA5}">
                      <a16:colId xmlns:a16="http://schemas.microsoft.com/office/drawing/2014/main" val="1187070211"/>
                    </a:ext>
                  </a:extLst>
                </a:gridCol>
                <a:gridCol w="872613">
                  <a:extLst>
                    <a:ext uri="{9D8B030D-6E8A-4147-A177-3AD203B41FA5}">
                      <a16:colId xmlns:a16="http://schemas.microsoft.com/office/drawing/2014/main" val="4254431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 dirty="0">
                          <a:effectLst/>
                        </a:rPr>
                        <a:t>SA </a:t>
                      </a:r>
                    </a:p>
                    <a:p>
                      <a:pPr>
                        <a:lnSpc>
                          <a:spcPts val="1500"/>
                        </a:lnSpc>
                        <a:buNone/>
                      </a:pPr>
                      <a:endParaRPr lang="en-US" b="1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Occ($)</a:t>
                      </a:r>
                      <a:endParaRPr lang="en-US" b="1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Occ(A)</a:t>
                      </a:r>
                      <a:endParaRPr lang="en-US" b="1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Occ(B)</a:t>
                      </a:r>
                      <a:endParaRPr lang="en-US" b="1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Occ(N)</a:t>
                      </a:r>
                      <a:endParaRPr lang="en-US" b="1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899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6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322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5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0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890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3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2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285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2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378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2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407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4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2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2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272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2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3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2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066724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6E9BF00-74CE-CF1D-72DC-48AC284B0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49030"/>
              </p:ext>
            </p:extLst>
          </p:nvPr>
        </p:nvGraphicFramePr>
        <p:xfrm>
          <a:off x="8765978" y="3902386"/>
          <a:ext cx="2488176" cy="166179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244088">
                  <a:extLst>
                    <a:ext uri="{9D8B030D-6E8A-4147-A177-3AD203B41FA5}">
                      <a16:colId xmlns:a16="http://schemas.microsoft.com/office/drawing/2014/main" val="1336144197"/>
                    </a:ext>
                  </a:extLst>
                </a:gridCol>
                <a:gridCol w="1244088">
                  <a:extLst>
                    <a:ext uri="{9D8B030D-6E8A-4147-A177-3AD203B41FA5}">
                      <a16:colId xmlns:a16="http://schemas.microsoft.com/office/drawing/2014/main" val="3068645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Karakter</a:t>
                      </a:r>
                      <a:endParaRPr lang="en-US" b="1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Indeks u F koloni</a:t>
                      </a:r>
                      <a:endParaRPr lang="en-US" b="1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396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$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054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787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B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4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129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N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5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00109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20A5488-5B45-1B75-A3D7-0F9DD3810D06}"/>
              </a:ext>
            </a:extLst>
          </p:cNvPr>
          <p:cNvSpPr txBox="1"/>
          <p:nvPr/>
        </p:nvSpPr>
        <p:spPr>
          <a:xfrm>
            <a:off x="181559" y="3902366"/>
            <a:ext cx="24635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Algoritam</a:t>
            </a:r>
            <a:r>
              <a:rPr lang="en-US" sz="2400" dirty="0"/>
              <a:t>:</a:t>
            </a:r>
          </a:p>
          <a:p>
            <a:pPr marL="342900" indent="-342900" algn="ctr">
              <a:buAutoNum type="arabicPeriod"/>
            </a:pPr>
            <a:r>
              <a:rPr lang="en-US" sz="2400" dirty="0"/>
              <a:t>L = BWT(T)</a:t>
            </a:r>
          </a:p>
          <a:p>
            <a:pPr marL="342900" indent="-342900" algn="ctr">
              <a:buAutoNum type="arabicPeriod"/>
            </a:pPr>
            <a:r>
              <a:rPr lang="en-US" sz="2400" dirty="0"/>
              <a:t>First column</a:t>
            </a:r>
          </a:p>
          <a:p>
            <a:pPr marL="342900" indent="-342900" algn="ctr">
              <a:buAutoNum type="arabicPeriod"/>
            </a:pPr>
            <a:r>
              <a:rPr lang="en-US" sz="2400" dirty="0"/>
              <a:t>Suffix Array</a:t>
            </a:r>
          </a:p>
          <a:p>
            <a:pPr marL="342900" indent="-342900" algn="ctr">
              <a:buAutoNum type="arabicPeriod"/>
            </a:pPr>
            <a:r>
              <a:rPr lang="en-US" sz="2400" dirty="0"/>
              <a:t>Occurrence matrix</a:t>
            </a:r>
          </a:p>
          <a:p>
            <a:endParaRPr lang="en-US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BABF7C-F57F-8E5C-26E5-028D4C10538F}"/>
              </a:ext>
            </a:extLst>
          </p:cNvPr>
          <p:cNvSpPr txBox="1"/>
          <p:nvPr/>
        </p:nvSpPr>
        <p:spPr>
          <a:xfrm>
            <a:off x="2971800" y="3902005"/>
            <a:ext cx="46152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Problemi</a:t>
            </a:r>
            <a:r>
              <a:rPr lang="en-US" sz="2400" dirty="0"/>
              <a:t>:</a:t>
            </a:r>
          </a:p>
          <a:p>
            <a:pPr marL="342900" indent="-342900">
              <a:buAutoNum type="arabicPeriod"/>
            </a:pPr>
            <a:r>
              <a:rPr lang="sr-Latn-RS" sz="2400" dirty="0"/>
              <a:t>Sporo p</a:t>
            </a:r>
            <a:r>
              <a:rPr lang="en-US" sz="2400" dirty="0" err="1"/>
              <a:t>retra</a:t>
            </a:r>
            <a:r>
              <a:rPr lang="sr-Latn-RS" sz="2400" dirty="0"/>
              <a:t>živanje prethodnog karaktera O(m)</a:t>
            </a:r>
          </a:p>
          <a:p>
            <a:pPr marL="342900" indent="-342900">
              <a:buAutoNum type="arabicPeriod"/>
            </a:pPr>
            <a:r>
              <a:rPr lang="sr-Latn-RS" sz="2400" dirty="0"/>
              <a:t>Čuvanje rankova </a:t>
            </a:r>
          </a:p>
          <a:p>
            <a:pPr marL="342900" indent="-342900">
              <a:buAutoNum type="arabicPeriod"/>
            </a:pPr>
            <a:r>
              <a:rPr lang="sr-Latn-RS" sz="2400" dirty="0"/>
              <a:t>Određivnaje mesta preklapanja</a:t>
            </a:r>
            <a:endParaRPr lang="en-US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CCEF3B-B238-6E64-1CF8-2F24DE3813C7}"/>
              </a:ext>
            </a:extLst>
          </p:cNvPr>
          <p:cNvSpPr/>
          <p:nvPr/>
        </p:nvSpPr>
        <p:spPr>
          <a:xfrm>
            <a:off x="8765978" y="3902005"/>
            <a:ext cx="2488176" cy="1661795"/>
          </a:xfrm>
          <a:prstGeom prst="rect">
            <a:avLst/>
          </a:prstGeom>
          <a:solidFill>
            <a:srgbClr val="99CCFF">
              <a:alpha val="16863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A485ED-A476-62BA-09B9-0CD0E76C9693}"/>
              </a:ext>
            </a:extLst>
          </p:cNvPr>
          <p:cNvSpPr txBox="1"/>
          <p:nvPr/>
        </p:nvSpPr>
        <p:spPr>
          <a:xfrm>
            <a:off x="5690112" y="4841084"/>
            <a:ext cx="1473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000" b="1" dirty="0"/>
              <a:t>Checkpoints</a:t>
            </a:r>
            <a:endParaRPr lang="en-US" sz="2000" b="1" dirty="0"/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322594F8-F014-3C3E-662B-2E9DBBB9C0F2}"/>
              </a:ext>
            </a:extLst>
          </p:cNvPr>
          <p:cNvSpPr/>
          <p:nvPr/>
        </p:nvSpPr>
        <p:spPr>
          <a:xfrm>
            <a:off x="5540829" y="4732902"/>
            <a:ext cx="149283" cy="66641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A35E22D7-A1DF-EC2A-A6D8-E98752C1CB20}"/>
              </a:ext>
            </a:extLst>
          </p:cNvPr>
          <p:cNvCxnSpPr>
            <a:cxnSpLocks/>
            <a:stCxn id="29" idx="2"/>
          </p:cNvCxnSpPr>
          <p:nvPr/>
        </p:nvCxnSpPr>
        <p:spPr>
          <a:xfrm rot="16200000" flipH="1">
            <a:off x="5440465" y="5679951"/>
            <a:ext cx="331202" cy="65329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81C364C-A612-D9CD-69DD-18D6531D0E61}"/>
              </a:ext>
            </a:extLst>
          </p:cNvPr>
          <p:cNvSpPr txBox="1"/>
          <p:nvPr/>
        </p:nvSpPr>
        <p:spPr>
          <a:xfrm>
            <a:off x="5690112" y="4586938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000" b="1" dirty="0"/>
              <a:t>O(1)</a:t>
            </a:r>
            <a:endParaRPr lang="en-US" sz="2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C5CC9C-BABA-6501-F6B8-14008EF01DD1}"/>
              </a:ext>
            </a:extLst>
          </p:cNvPr>
          <p:cNvSpPr txBox="1"/>
          <p:nvPr/>
        </p:nvSpPr>
        <p:spPr>
          <a:xfrm>
            <a:off x="5932713" y="5949179"/>
            <a:ext cx="1654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SA sample</a:t>
            </a:r>
          </a:p>
        </p:txBody>
      </p:sp>
    </p:spTree>
    <p:extLst>
      <p:ext uri="{BB962C8B-B14F-4D97-AF65-F5344CB8AC3E}">
        <p14:creationId xmlns:p14="http://schemas.microsoft.com/office/powerpoint/2010/main" val="1720770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5A128-A4DA-E2B0-DE4C-92FE3D25F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Analizirani genomi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D91240-4E29-07EF-B920-74DA20541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221109"/>
              </p:ext>
            </p:extLst>
          </p:nvPr>
        </p:nvGraphicFramePr>
        <p:xfrm>
          <a:off x="566058" y="1572381"/>
          <a:ext cx="11059884" cy="479898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686628">
                  <a:extLst>
                    <a:ext uri="{9D8B030D-6E8A-4147-A177-3AD203B41FA5}">
                      <a16:colId xmlns:a16="http://schemas.microsoft.com/office/drawing/2014/main" val="3562162135"/>
                    </a:ext>
                  </a:extLst>
                </a:gridCol>
                <a:gridCol w="3686628">
                  <a:extLst>
                    <a:ext uri="{9D8B030D-6E8A-4147-A177-3AD203B41FA5}">
                      <a16:colId xmlns:a16="http://schemas.microsoft.com/office/drawing/2014/main" val="3803885974"/>
                    </a:ext>
                  </a:extLst>
                </a:gridCol>
                <a:gridCol w="3686628">
                  <a:extLst>
                    <a:ext uri="{9D8B030D-6E8A-4147-A177-3AD203B41FA5}">
                      <a16:colId xmlns:a16="http://schemas.microsoft.com/office/drawing/2014/main" val="3164098806"/>
                    </a:ext>
                  </a:extLst>
                </a:gridCol>
              </a:tblGrid>
              <a:tr h="778354">
                <a:tc>
                  <a:txBody>
                    <a:bodyPr/>
                    <a:lstStyle/>
                    <a:p>
                      <a:r>
                        <a:rPr lang="sr-Latn-RS" sz="2400" dirty="0"/>
                        <a:t>Coffea Arabica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2400" dirty="0"/>
                        <a:t>Mus Pahari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</a:rPr>
                        <a:t>Ornithorhynchus anatinus</a:t>
                      </a:r>
                    </a:p>
                    <a:p>
                      <a:r>
                        <a:rPr lang="sr-Latn-RS" sz="2400" dirty="0"/>
                        <a:t>(Platypus)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383981"/>
                  </a:ext>
                </a:extLst>
              </a:tr>
              <a:tr h="345935">
                <a:tc>
                  <a:txBody>
                    <a:bodyPr/>
                    <a:lstStyle/>
                    <a:p>
                      <a:r>
                        <a:rPr lang="sr-Latn-RS" dirty="0"/>
                        <a:t>Chromosome 1c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Chromosome 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Chromosome X1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60686"/>
                  </a:ext>
                </a:extLst>
              </a:tr>
              <a:tr h="11242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ATGCATG, </a:t>
                      </a:r>
                      <a:endParaRPr lang="sr-Latn-RS" sz="1800" b="0" u="none" strike="noStrike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TCTCTCTA, </a:t>
                      </a:r>
                      <a:endParaRPr lang="sr-Latn-RS" sz="1800" b="0" u="none" strike="noStrike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TTCACTACTCTCA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ATGATG, </a:t>
                      </a:r>
                      <a:endParaRPr lang="sr-Latn-RS" sz="1800" b="0" u="none" strike="noStrike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r>
                        <a:rPr lang="en-US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CTCTCTA, </a:t>
                      </a:r>
                      <a:endParaRPr lang="sr-Latn-RS" sz="1800" b="0" u="none" strike="noStrike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r>
                        <a:rPr lang="en-US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TCACTACTCTCA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292022"/>
                  </a:ext>
                </a:extLst>
              </a:tr>
              <a:tr h="2421545">
                <a:tc>
                  <a:txBody>
                    <a:bodyPr/>
                    <a:lstStyle/>
                    <a:p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261099"/>
                  </a:ext>
                </a:extLst>
              </a:tr>
            </a:tbl>
          </a:graphicData>
        </a:graphic>
      </p:graphicFrame>
      <p:pic>
        <p:nvPicPr>
          <p:cNvPr id="2052" name="Picture 4" descr="Food-Info.net&gt; The Coffee Plant">
            <a:extLst>
              <a:ext uri="{FF2B5EF4-FFF2-40B4-BE49-F238E27FC236}">
                <a16:creationId xmlns:a16="http://schemas.microsoft.com/office/drawing/2014/main" id="{445692F6-5742-F1D8-6BD6-031E4149A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395" y="3971873"/>
            <a:ext cx="2040785" cy="232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us (genus) - Wikipedia">
            <a:extLst>
              <a:ext uri="{FF2B5EF4-FFF2-40B4-BE49-F238E27FC236}">
                <a16:creationId xmlns:a16="http://schemas.microsoft.com/office/drawing/2014/main" id="{58DA0164-0D95-B2A1-DFEB-FB8B8E132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5" y="4304502"/>
            <a:ext cx="27622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hineas and Ferb Theory: Why Perry the Platypus Lives With the Family">
            <a:extLst>
              <a:ext uri="{FF2B5EF4-FFF2-40B4-BE49-F238E27FC236}">
                <a16:creationId xmlns:a16="http://schemas.microsoft.com/office/drawing/2014/main" id="{EF6EBB59-D7FE-0175-56D9-9A4C0840F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086" y="4304502"/>
            <a:ext cx="3374572" cy="168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82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49D27-BB79-EE5C-467F-21FAE6C90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640"/>
            <a:ext cx="10515600" cy="1325563"/>
          </a:xfrm>
        </p:spPr>
        <p:txBody>
          <a:bodyPr/>
          <a:lstStyle/>
          <a:p>
            <a:r>
              <a:rPr lang="en-US" dirty="0" err="1"/>
              <a:t>Optimizacije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B37E5-9B95-C860-8B80-625E7080F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85" y="1345747"/>
            <a:ext cx="10515600" cy="20866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dirty="0" err="1"/>
              <a:t>Konstrukcija</a:t>
            </a:r>
            <a:r>
              <a:rPr lang="en-US" sz="3200" dirty="0"/>
              <a:t> BWT </a:t>
            </a:r>
            <a:r>
              <a:rPr lang="en-US" sz="3200" dirty="0" err="1"/>
              <a:t>i</a:t>
            </a:r>
            <a:r>
              <a:rPr lang="en-US" sz="3200" dirty="0"/>
              <a:t> SA</a:t>
            </a:r>
          </a:p>
          <a:p>
            <a:r>
              <a:rPr lang="en-US" sz="3200" dirty="0" err="1"/>
              <a:t>Naivni</a:t>
            </a:r>
            <a:r>
              <a:rPr lang="en-US" sz="3200" dirty="0"/>
              <a:t> </a:t>
            </a:r>
            <a:r>
              <a:rPr lang="en-US" sz="3200" dirty="0" err="1"/>
              <a:t>pristup</a:t>
            </a:r>
            <a:r>
              <a:rPr lang="en-US" sz="3200" dirty="0"/>
              <a:t> </a:t>
            </a:r>
            <a:r>
              <a:rPr lang="en-US" sz="3200" dirty="0" err="1"/>
              <a:t>sa</a:t>
            </a:r>
            <a:r>
              <a:rPr lang="en-US" sz="3200" dirty="0"/>
              <a:t> </a:t>
            </a:r>
            <a:r>
              <a:rPr lang="en-US" sz="3200" dirty="0" err="1"/>
              <a:t>sortiranjem</a:t>
            </a:r>
            <a:r>
              <a:rPr lang="en-US" sz="3200" dirty="0"/>
              <a:t> </a:t>
            </a:r>
            <a:r>
              <a:rPr lang="en-US" sz="3200" dirty="0" err="1"/>
              <a:t>rotacija</a:t>
            </a:r>
            <a:r>
              <a:rPr lang="en-US" sz="3200" dirty="0"/>
              <a:t> je O(n² log n),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err="1"/>
              <a:t>dok</a:t>
            </a:r>
            <a:r>
              <a:rPr lang="en-US" sz="3200" dirty="0"/>
              <a:t> je </a:t>
            </a:r>
            <a:r>
              <a:rPr lang="en-US" sz="3200" b="1" dirty="0" err="1"/>
              <a:t>divsufsort</a:t>
            </a:r>
            <a:r>
              <a:rPr lang="en-US" sz="3200" dirty="0"/>
              <a:t> </a:t>
            </a:r>
            <a:r>
              <a:rPr lang="en-US" sz="3200" dirty="0" err="1"/>
              <a:t>jedan</a:t>
            </a:r>
            <a:r>
              <a:rPr lang="en-US" sz="3200" dirty="0"/>
              <a:t> od </a:t>
            </a:r>
            <a:r>
              <a:rPr lang="en-US" sz="3200" dirty="0" err="1"/>
              <a:t>najbržih</a:t>
            </a:r>
            <a:r>
              <a:rPr lang="en-US" sz="3200" dirty="0"/>
              <a:t> </a:t>
            </a:r>
            <a:r>
              <a:rPr lang="en-US" sz="3200" dirty="0" err="1"/>
              <a:t>poznatih</a:t>
            </a:r>
            <a:r>
              <a:rPr lang="en-US" sz="3200" dirty="0"/>
              <a:t> </a:t>
            </a:r>
            <a:r>
              <a:rPr lang="en-US" sz="3200" dirty="0" err="1"/>
              <a:t>algoritama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r>
              <a:rPr lang="en-US" sz="3200" dirty="0"/>
              <a:t>Worst-case time: O(n log n) </a:t>
            </a:r>
          </a:p>
          <a:p>
            <a:pPr marL="0" indent="0">
              <a:buNone/>
            </a:pPr>
            <a:r>
              <a:rPr lang="en-US" sz="3200" dirty="0"/>
              <a:t>Memory space: 5n+O(1) bytes </a:t>
            </a:r>
          </a:p>
        </p:txBody>
      </p:sp>
    </p:spTree>
    <p:extLst>
      <p:ext uri="{BB962C8B-B14F-4D97-AF65-F5344CB8AC3E}">
        <p14:creationId xmlns:p14="http://schemas.microsoft.com/office/powerpoint/2010/main" val="3584778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955AD-FFF8-18CA-4539-3847C8C2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Testovi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A9790-95CE-2D89-3868-95BA17EDD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58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c53111-f57e-45e2-a6ce-65cc5a06d54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DC1CB67652CC49BBC4C0DC64701AFE" ma:contentTypeVersion="6" ma:contentTypeDescription="Create a new document." ma:contentTypeScope="" ma:versionID="47c51e3d8c3684639eba9edc36ee1317">
  <xsd:schema xmlns:xsd="http://www.w3.org/2001/XMLSchema" xmlns:xs="http://www.w3.org/2001/XMLSchema" xmlns:p="http://schemas.microsoft.com/office/2006/metadata/properties" xmlns:ns3="11c53111-f57e-45e2-a6ce-65cc5a06d54d" targetNamespace="http://schemas.microsoft.com/office/2006/metadata/properties" ma:root="true" ma:fieldsID="19a7e614ce1885078e28496a8f6e0502" ns3:_="">
    <xsd:import namespace="11c53111-f57e-45e2-a6ce-65cc5a06d54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c53111-f57e-45e2-a6ce-65cc5a06d54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FE50ED-0010-4EB0-A3EA-FAFD2BD62ECE}">
  <ds:schemaRefs>
    <ds:schemaRef ds:uri="http://purl.org/dc/elements/1.1/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11c53111-f57e-45e2-a6ce-65cc5a06d54d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499CC31-CDEE-4A5D-B53D-0E2E90D6DE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C6FEA5-17B0-43BE-A4C3-60AD7FF98D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c53111-f57e-45e2-a6ce-65cc5a06d5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313</Words>
  <Application>Microsoft Office PowerPoint</Application>
  <PresentationFormat>Widescreen</PresentationFormat>
  <Paragraphs>133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Inter</vt:lpstr>
      <vt:lpstr>Tw Cen MT</vt:lpstr>
      <vt:lpstr>Office Theme</vt:lpstr>
      <vt:lpstr>Burrows-Wheeler transformacija i FM index</vt:lpstr>
      <vt:lpstr>Burrows-Wheeler transformacija</vt:lpstr>
      <vt:lpstr>Analizirani genomi</vt:lpstr>
      <vt:lpstr>Optimizacije</vt:lpstr>
      <vt:lpstr>Testovi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Анастасија Ракић</dc:creator>
  <cp:lastModifiedBy>Анастасија Ракић</cp:lastModifiedBy>
  <cp:revision>1</cp:revision>
  <dcterms:created xsi:type="dcterms:W3CDTF">2025-09-08T11:35:46Z</dcterms:created>
  <dcterms:modified xsi:type="dcterms:W3CDTF">2025-09-20T10:19:17Z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0x010100CFDC1CB67652CC49BBC4C0DC64701AFE</vt:lpwstr>
  </property>
</Properties>
</file>