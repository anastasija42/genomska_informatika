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6"/>
  </p:notesMasterIdLst>
  <p:sldIdLst>
    <p:sldId id="256" r:id="rId5"/>
    <p:sldId id="257" r:id="rId6"/>
    <p:sldId id="258" r:id="rId7"/>
    <p:sldId id="260" r:id="rId8"/>
    <p:sldId id="269" r:id="rId9"/>
    <p:sldId id="262" r:id="rId10"/>
    <p:sldId id="266" r:id="rId11"/>
    <p:sldId id="264" r:id="rId12"/>
    <p:sldId id="265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2D050"/>
    <a:srgbClr val="99CCFF"/>
    <a:srgbClr val="FFCC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0654" autoAdjust="0"/>
  </p:normalViewPr>
  <p:slideViewPr>
    <p:cSldViewPr snapToGrid="0">
      <p:cViewPr varScale="1">
        <p:scale>
          <a:sx n="66" d="100"/>
          <a:sy n="66" d="100"/>
        </p:scale>
        <p:origin x="133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73F182-31D9-48C6-AA78-B271D95C0E92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204D62-BDE0-416B-B808-718FCF5751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0364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verzije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algoritma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osnovnoj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optimizovanoj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za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konstrukciju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Sufiksnog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Niza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BWT-a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korišćen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efikasan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divsufsort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algoritam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Ovo je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bilo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neophodno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kako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bi se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veliki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genomski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podaci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mogli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obraditi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razumnom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vremenu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omogućilo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fer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poređenje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performansi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pretrage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204D62-BDE0-416B-B808-718FCF5751A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1299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204D62-BDE0-416B-B808-718FCF5751A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1872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C50A4-EF54-7D85-A82F-55F439C0BD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3C23F8-AAEA-FA71-73CF-8DFC8AFE59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8858BF-B5C4-EAAE-B16B-E35BE8627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5CAEB-1E40-4CD7-9AB3-AC048F29DA40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CE7EAB-07C9-CA57-8391-C4E148F8A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C8FB1-4E24-387E-33CE-62A19989D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132ED-9698-4669-BC6D-42EB333B77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88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54EB1-0EAA-441A-7C68-457A9CD4E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8C0D32-BCF0-6A38-768F-663B05519D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FAAF10-DA7B-13C5-101F-6DD37917E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5CAEB-1E40-4CD7-9AB3-AC048F29DA40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6AC0B9-35C0-84AD-903F-70AB55A3C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202C98-8512-0C9D-78A6-73FEBF65C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132ED-9698-4669-BC6D-42EB333B77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3753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6C82D-8D98-E728-B405-DF72D2515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0C842A-067A-8D42-2596-312E772448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22F24E-39ED-E3A1-317E-16F06ECB7E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5CAEB-1E40-4CD7-9AB3-AC048F29DA40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636E9F-D489-208A-6CBD-8171861629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D06DAD-9716-C8A7-AE61-58D3E316B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132ED-9698-4669-BC6D-42EB333B77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698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FE9B5-A8C8-2517-4256-A626D5908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763B92-A270-CEC9-ACC1-6D39BB730E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5BEBC8-733D-1B29-B10B-0E3799B055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936724-C2BD-1810-8476-E5A87466D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5CAEB-1E40-4CD7-9AB3-AC048F29DA40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55FEF1-6E03-3CB0-12F9-9ED46988C1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6AEA11-12AB-07B7-AD79-4B03FDAF8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132ED-9698-4669-BC6D-42EB333B77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0002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8DB59-29B5-3BE8-BCF8-291D4538B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DF78EF-DFB6-AD30-21EF-59189D4E57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470AA5-8BA0-95E4-6E97-C0D233616C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545C08-71B4-C58A-B582-9B52ED47B3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C05274-263F-CB98-9692-364D6BC179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E30BB2-3D77-1F96-3A9E-E133CDB5A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5CAEB-1E40-4CD7-9AB3-AC048F29DA40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B1C1A1-FFFD-55CB-8A63-CB0DACF667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C2D573-74C8-84E8-6456-9C7E20032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132ED-9698-4669-BC6D-42EB333B77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1013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7A333-E708-F33F-46FA-0397E8FF4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BAA270-3248-A170-35C0-1319742CC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5CAEB-1E40-4CD7-9AB3-AC048F29DA40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50D953-0402-0750-18FA-A7D1CFAF7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CD4371-34BD-F209-5F88-7C1FC7AAE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132ED-9698-4669-BC6D-42EB333B77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6089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B591E1-1A74-18A0-4D95-55368EC21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5CAEB-1E40-4CD7-9AB3-AC048F29DA40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F9BF594-3BF0-AA7D-9305-D8682D8AC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BBC800-DFAF-E5CC-AD08-0FAAE869A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132ED-9698-4669-BC6D-42EB333B77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0864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992FB-E621-83E8-B726-8F66FF776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9099C4-3814-47FC-51BA-B090A0FD2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9A4B42-1855-0B77-329E-239FD5CE4D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972DD8-0651-5E2A-C87D-A688BAC8A3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5CAEB-1E40-4CD7-9AB3-AC048F29DA40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34908D-5A8A-083E-97C6-E7C5EBDEB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60A747-5711-B737-8883-5A2ADF013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132ED-9698-4669-BC6D-42EB333B77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8899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B5601-048F-787E-E2A7-9D2FE86A3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0EFA55-E91C-122F-5555-A6DEA837E0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6A1C63-7241-B852-CC2E-B6C6E531BC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DA94E-4254-29E9-1876-E53DA63E3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5CAEB-1E40-4CD7-9AB3-AC048F29DA40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479EF9-8482-5607-F2E7-9B2B0D65F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FFCC4D-BF82-AB3E-568F-381855472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132ED-9698-4669-BC6D-42EB333B77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9641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FF33A-5247-3DA1-6F61-4D6745935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B5F532-E188-7594-B35A-A0553D9DCC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4BCDAC-A968-F5CD-61B6-82F345A48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5CAEB-1E40-4CD7-9AB3-AC048F29DA40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CC33EA-50C1-CB49-F3C4-3026B0560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55A221-79CB-08BA-6D90-028D32735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132ED-9698-4669-BC6D-42EB333B77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1653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A9D227-C65D-C7DD-55DA-0E8B738188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9E233D-59E5-5F6C-1482-D85F0E464F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FCE2E6-6E12-64C9-48EA-9517FD9673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5CAEB-1E40-4CD7-9AB3-AC048F29DA40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3F5538-268C-0BD4-BA33-589FE55B6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1E8287-58D0-D028-F8F4-45AF675EA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132ED-9698-4669-BC6D-42EB333B77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96604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3B47EC-0EA3-4304-9895-08A2D9E26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A80147-C170-516C-DDFF-7739E293A1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F21103-42D7-DA98-E721-6FD8B05D2F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85CAEB-1E40-4CD7-9AB3-AC048F29DA40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C835AA-BA8E-898B-663F-E7A2C58A9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C1543C-ED91-FA02-8342-A8B346CD2A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1132ED-9698-4669-BC6D-42EB333B77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9562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jpe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068974-E8EB-1B1F-921D-5978A4175D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09851" y="1425234"/>
            <a:ext cx="7171990" cy="1837349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en-US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Burrows-Wheeler </a:t>
            </a:r>
            <a:r>
              <a:rPr lang="en-US" kern="1200" dirty="0" err="1">
                <a:solidFill>
                  <a:schemeClr val="tx2"/>
                </a:solidFill>
                <a:latin typeface="+mj-lt"/>
                <a:ea typeface="+mj-ea"/>
                <a:cs typeface="+mj-cs"/>
              </a:rPr>
              <a:t>transformacija</a:t>
            </a:r>
            <a:r>
              <a:rPr lang="en-US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kern="1200" dirty="0" err="1">
                <a:solidFill>
                  <a:schemeClr val="tx2"/>
                </a:solidFill>
                <a:latin typeface="+mj-lt"/>
                <a:ea typeface="+mj-ea"/>
                <a:cs typeface="+mj-cs"/>
              </a:rPr>
              <a:t>i</a:t>
            </a:r>
            <a:r>
              <a:rPr lang="en-US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 FM index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05545017-2445-4AB3-95A6-48F17C8026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867135" y="0"/>
            <a:ext cx="4324865" cy="264114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3B5D580-007D-4215-A10B-C8CF12EE02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24228C19-035F-4E8E-BAFD-56EC684B6F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C10D7C81-A1BE-4720-A66D-AEF9A11A54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1BF18FEE-BE44-4F4A-AA4E-EC795CB0B9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Subtitle 2">
            <a:extLst>
              <a:ext uri="{FF2B5EF4-FFF2-40B4-BE49-F238E27FC236}">
                <a16:creationId xmlns:a16="http://schemas.microsoft.com/office/drawing/2014/main" id="{5B4008BD-35DB-99ED-6290-6E9C5162B8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36138" y="3385523"/>
            <a:ext cx="5919417" cy="243086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800" dirty="0" err="1">
                <a:solidFill>
                  <a:schemeClr val="tx2"/>
                </a:solidFill>
              </a:rPr>
              <a:t>Projektni</a:t>
            </a:r>
            <a:r>
              <a:rPr lang="en-US" sz="2800" dirty="0">
                <a:solidFill>
                  <a:schemeClr val="tx2"/>
                </a:solidFill>
              </a:rPr>
              <a:t> </a:t>
            </a:r>
            <a:r>
              <a:rPr lang="en-US" sz="2800" dirty="0" err="1">
                <a:solidFill>
                  <a:schemeClr val="tx2"/>
                </a:solidFill>
              </a:rPr>
              <a:t>zadatak</a:t>
            </a:r>
            <a:r>
              <a:rPr lang="en-US" sz="2800" dirty="0">
                <a:solidFill>
                  <a:schemeClr val="tx2"/>
                </a:solidFill>
              </a:rPr>
              <a:t> </a:t>
            </a:r>
            <a:r>
              <a:rPr lang="en-US" sz="2800" dirty="0" err="1">
                <a:solidFill>
                  <a:schemeClr val="tx2"/>
                </a:solidFill>
              </a:rPr>
              <a:t>iz</a:t>
            </a:r>
            <a:r>
              <a:rPr lang="en-US" sz="2800" dirty="0">
                <a:solidFill>
                  <a:schemeClr val="tx2"/>
                </a:solidFill>
              </a:rPr>
              <a:t> </a:t>
            </a:r>
            <a:r>
              <a:rPr lang="en-US" sz="2800" dirty="0" err="1">
                <a:solidFill>
                  <a:schemeClr val="tx2"/>
                </a:solidFill>
              </a:rPr>
              <a:t>predmeta</a:t>
            </a:r>
            <a:r>
              <a:rPr lang="en-US" sz="2800" dirty="0">
                <a:solidFill>
                  <a:schemeClr val="tx2"/>
                </a:solidFill>
              </a:rPr>
              <a:t> </a:t>
            </a:r>
            <a:r>
              <a:rPr lang="en-US" sz="2800" dirty="0" err="1">
                <a:solidFill>
                  <a:schemeClr val="tx2"/>
                </a:solidFill>
              </a:rPr>
              <a:t>Genomska</a:t>
            </a:r>
            <a:r>
              <a:rPr lang="en-US" sz="2800" dirty="0">
                <a:solidFill>
                  <a:schemeClr val="tx2"/>
                </a:solidFill>
              </a:rPr>
              <a:t> </a:t>
            </a:r>
            <a:r>
              <a:rPr lang="en-US" sz="2800" dirty="0" err="1">
                <a:solidFill>
                  <a:schemeClr val="tx2"/>
                </a:solidFill>
              </a:rPr>
              <a:t>informatika</a:t>
            </a:r>
            <a:endParaRPr lang="en-US" sz="2800" dirty="0">
              <a:solidFill>
                <a:schemeClr val="tx2"/>
              </a:solidFill>
            </a:endParaRPr>
          </a:p>
          <a:p>
            <a:r>
              <a:rPr lang="en-US" sz="2800" dirty="0" err="1">
                <a:solidFill>
                  <a:schemeClr val="tx2"/>
                </a:solidFill>
              </a:rPr>
              <a:t>Studenti</a:t>
            </a:r>
            <a:r>
              <a:rPr lang="en-US" sz="2800" dirty="0">
                <a:solidFill>
                  <a:schemeClr val="tx2"/>
                </a:solidFill>
              </a:rPr>
              <a:t>: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2"/>
                </a:solidFill>
              </a:rPr>
              <a:t>Teodora </a:t>
            </a:r>
            <a:r>
              <a:rPr lang="en-US" sz="2800" dirty="0" err="1">
                <a:solidFill>
                  <a:schemeClr val="tx2"/>
                </a:solidFill>
              </a:rPr>
              <a:t>Srećković</a:t>
            </a:r>
            <a:r>
              <a:rPr lang="en-US" sz="2800" dirty="0">
                <a:solidFill>
                  <a:schemeClr val="tx2"/>
                </a:solidFill>
              </a:rPr>
              <a:t> 2024/3250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2"/>
                </a:solidFill>
              </a:rPr>
              <a:t>Anastasija Rakić 2024/3105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06B7259D-F2AD-42FE-B984-6D1D74321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-456264" y="3658536"/>
            <a:ext cx="3655725" cy="2743201"/>
            <a:chOff x="-305" y="-1"/>
            <a:chExt cx="3832880" cy="2876136"/>
          </a:xfrm>
        </p:grpSpPr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9E5C38C6-2516-45D1-ADFC-3F59F8E34A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6C274C95-E7A7-401D-A8F5-FFF5EB9291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61D598C3-55D0-44FB-8766-A89B34B317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9EBC5C7-E54F-42F3-93F0-75AAC99FF9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243307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EBCCEF3B-B238-6E64-1CF8-2F24DE3813C7}"/>
              </a:ext>
            </a:extLst>
          </p:cNvPr>
          <p:cNvSpPr/>
          <p:nvPr/>
        </p:nvSpPr>
        <p:spPr>
          <a:xfrm>
            <a:off x="8765978" y="3902005"/>
            <a:ext cx="2488176" cy="1661795"/>
          </a:xfrm>
          <a:prstGeom prst="rect">
            <a:avLst/>
          </a:prstGeom>
          <a:solidFill>
            <a:srgbClr val="99CCFF">
              <a:alpha val="16863"/>
            </a:srgbClr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095DE6E-B6E8-9563-3D15-1190575AE4CE}"/>
              </a:ext>
            </a:extLst>
          </p:cNvPr>
          <p:cNvSpPr/>
          <p:nvPr/>
        </p:nvSpPr>
        <p:spPr>
          <a:xfrm>
            <a:off x="6912076" y="1019814"/>
            <a:ext cx="4363065" cy="2544953"/>
          </a:xfrm>
          <a:prstGeom prst="rect">
            <a:avLst/>
          </a:prstGeom>
          <a:solidFill>
            <a:srgbClr val="99CCFF">
              <a:alpha val="16863"/>
            </a:srgbClr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2581479-2F37-A712-463C-A60058A53F62}"/>
              </a:ext>
            </a:extLst>
          </p:cNvPr>
          <p:cNvSpPr/>
          <p:nvPr/>
        </p:nvSpPr>
        <p:spPr>
          <a:xfrm>
            <a:off x="508206" y="1019814"/>
            <a:ext cx="6403870" cy="2544953"/>
          </a:xfrm>
          <a:prstGeom prst="rect">
            <a:avLst/>
          </a:prstGeom>
          <a:solidFill>
            <a:srgbClr val="FFCC99">
              <a:alpha val="16863"/>
            </a:srgbClr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36ABC3-5E52-C07D-95A6-37CBC725A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12" y="121292"/>
            <a:ext cx="10515600" cy="1325563"/>
          </a:xfrm>
        </p:spPr>
        <p:txBody>
          <a:bodyPr>
            <a:normAutofit/>
          </a:bodyPr>
          <a:lstStyle/>
          <a:p>
            <a:r>
              <a:rPr lang="sr-Latn-RS" sz="3200" dirty="0"/>
              <a:t>Burrows-Wheeler transformacija</a:t>
            </a:r>
            <a:endParaRPr lang="en-US" sz="32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D536B9C-B8F8-50AD-6A06-EF895E8515C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8255766"/>
              </p:ext>
            </p:extLst>
          </p:nvPr>
        </p:nvGraphicFramePr>
        <p:xfrm>
          <a:off x="508206" y="1020195"/>
          <a:ext cx="6403870" cy="254457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1280774">
                  <a:extLst>
                    <a:ext uri="{9D8B030D-6E8A-4147-A177-3AD203B41FA5}">
                      <a16:colId xmlns:a16="http://schemas.microsoft.com/office/drawing/2014/main" val="3489174784"/>
                    </a:ext>
                  </a:extLst>
                </a:gridCol>
                <a:gridCol w="1280774">
                  <a:extLst>
                    <a:ext uri="{9D8B030D-6E8A-4147-A177-3AD203B41FA5}">
                      <a16:colId xmlns:a16="http://schemas.microsoft.com/office/drawing/2014/main" val="1881137283"/>
                    </a:ext>
                  </a:extLst>
                </a:gridCol>
                <a:gridCol w="1280774">
                  <a:extLst>
                    <a:ext uri="{9D8B030D-6E8A-4147-A177-3AD203B41FA5}">
                      <a16:colId xmlns:a16="http://schemas.microsoft.com/office/drawing/2014/main" val="1937177799"/>
                    </a:ext>
                  </a:extLst>
                </a:gridCol>
                <a:gridCol w="1280774">
                  <a:extLst>
                    <a:ext uri="{9D8B030D-6E8A-4147-A177-3AD203B41FA5}">
                      <a16:colId xmlns:a16="http://schemas.microsoft.com/office/drawing/2014/main" val="3944501252"/>
                    </a:ext>
                  </a:extLst>
                </a:gridCol>
                <a:gridCol w="1280774">
                  <a:extLst>
                    <a:ext uri="{9D8B030D-6E8A-4147-A177-3AD203B41FA5}">
                      <a16:colId xmlns:a16="http://schemas.microsoft.com/office/drawing/2014/main" val="22250550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1" dirty="0" err="1">
                          <a:effectLst/>
                        </a:rPr>
                        <a:t>i</a:t>
                      </a:r>
                      <a:endParaRPr lang="en-US" b="1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1" dirty="0" err="1">
                          <a:effectLst/>
                        </a:rPr>
                        <a:t>Rotacije</a:t>
                      </a:r>
                      <a:endParaRPr lang="en-US" b="1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1">
                          <a:effectLst/>
                        </a:rPr>
                        <a:t>Sortirane rotacije</a:t>
                      </a:r>
                      <a:endParaRPr lang="en-US" b="1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1">
                          <a:effectLst/>
                        </a:rPr>
                        <a:t>F (Prva)</a:t>
                      </a:r>
                      <a:endParaRPr lang="en-US" b="1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1" dirty="0">
                          <a:effectLst/>
                        </a:rPr>
                        <a:t>L (</a:t>
                      </a:r>
                      <a:r>
                        <a:rPr lang="en-US" b="1" dirty="0" err="1">
                          <a:effectLst/>
                        </a:rPr>
                        <a:t>Poslednja</a:t>
                      </a:r>
                      <a:r>
                        <a:rPr lang="en-US" b="1" dirty="0">
                          <a:effectLst/>
                        </a:rPr>
                        <a:t>)</a:t>
                      </a:r>
                      <a:endParaRPr lang="en-US" b="1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25940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0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BANANA$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$BANANA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1" dirty="0">
                          <a:effectLst/>
                        </a:rPr>
                        <a:t>$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A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7312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1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ANANA$B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A$BANAN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1" dirty="0">
                          <a:effectLst/>
                        </a:rPr>
                        <a:t>A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N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2417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2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NANA$BA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ANA$BAN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1" dirty="0">
                          <a:effectLst/>
                        </a:rPr>
                        <a:t>A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N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11705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3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ANA$BAN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ANANA$B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1">
                          <a:effectLst/>
                        </a:rPr>
                        <a:t>A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B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844290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4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NA$BANA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BANANA$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1">
                          <a:effectLst/>
                        </a:rPr>
                        <a:t>B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$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44747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5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A$BANAN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NA$BANA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1">
                          <a:effectLst/>
                        </a:rPr>
                        <a:t>N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A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40401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6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$BANANA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NANA$BA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1">
                          <a:effectLst/>
                        </a:rPr>
                        <a:t>N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A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09532993"/>
                  </a:ext>
                </a:extLst>
              </a:tr>
            </a:tbl>
          </a:graphicData>
        </a:graphic>
      </p:graphicFrame>
      <p:sp>
        <p:nvSpPr>
          <p:cNvPr id="17" name="Title 1">
            <a:extLst>
              <a:ext uri="{FF2B5EF4-FFF2-40B4-BE49-F238E27FC236}">
                <a16:creationId xmlns:a16="http://schemas.microsoft.com/office/drawing/2014/main" id="{D3F75129-BCC1-ED3E-4128-2A3D08AAD6A7}"/>
              </a:ext>
            </a:extLst>
          </p:cNvPr>
          <p:cNvSpPr txBox="1">
            <a:spLocks/>
          </p:cNvSpPr>
          <p:nvPr/>
        </p:nvSpPr>
        <p:spPr>
          <a:xfrm>
            <a:off x="6987970" y="121291"/>
            <a:ext cx="426618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r-Latn-RS" sz="3200" dirty="0"/>
              <a:t>FM index</a:t>
            </a:r>
            <a:endParaRPr lang="en-US" sz="3200" dirty="0"/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F8E5DE45-A057-68DD-BB71-73699D2D5B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2524948"/>
              </p:ext>
            </p:extLst>
          </p:nvPr>
        </p:nvGraphicFramePr>
        <p:xfrm>
          <a:off x="6912076" y="1019814"/>
          <a:ext cx="4363065" cy="2544953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872613">
                  <a:extLst>
                    <a:ext uri="{9D8B030D-6E8A-4147-A177-3AD203B41FA5}">
                      <a16:colId xmlns:a16="http://schemas.microsoft.com/office/drawing/2014/main" val="504391349"/>
                    </a:ext>
                  </a:extLst>
                </a:gridCol>
                <a:gridCol w="872613">
                  <a:extLst>
                    <a:ext uri="{9D8B030D-6E8A-4147-A177-3AD203B41FA5}">
                      <a16:colId xmlns:a16="http://schemas.microsoft.com/office/drawing/2014/main" val="3595451701"/>
                    </a:ext>
                  </a:extLst>
                </a:gridCol>
                <a:gridCol w="872613">
                  <a:extLst>
                    <a:ext uri="{9D8B030D-6E8A-4147-A177-3AD203B41FA5}">
                      <a16:colId xmlns:a16="http://schemas.microsoft.com/office/drawing/2014/main" val="1036463801"/>
                    </a:ext>
                  </a:extLst>
                </a:gridCol>
                <a:gridCol w="872613">
                  <a:extLst>
                    <a:ext uri="{9D8B030D-6E8A-4147-A177-3AD203B41FA5}">
                      <a16:colId xmlns:a16="http://schemas.microsoft.com/office/drawing/2014/main" val="1187070211"/>
                    </a:ext>
                  </a:extLst>
                </a:gridCol>
                <a:gridCol w="872613">
                  <a:extLst>
                    <a:ext uri="{9D8B030D-6E8A-4147-A177-3AD203B41FA5}">
                      <a16:colId xmlns:a16="http://schemas.microsoft.com/office/drawing/2014/main" val="4254431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1" dirty="0">
                          <a:effectLst/>
                        </a:rPr>
                        <a:t>SA </a:t>
                      </a:r>
                    </a:p>
                    <a:p>
                      <a:pPr>
                        <a:lnSpc>
                          <a:spcPts val="1500"/>
                        </a:lnSpc>
                        <a:buNone/>
                      </a:pPr>
                      <a:endParaRPr lang="en-US" b="1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1">
                          <a:effectLst/>
                        </a:rPr>
                        <a:t>Occ($)</a:t>
                      </a:r>
                      <a:endParaRPr lang="en-US" b="1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1">
                          <a:effectLst/>
                        </a:rPr>
                        <a:t>Occ(A)</a:t>
                      </a:r>
                      <a:endParaRPr lang="en-US" b="1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1">
                          <a:effectLst/>
                        </a:rPr>
                        <a:t>Occ(B)</a:t>
                      </a:r>
                      <a:endParaRPr lang="en-US" b="1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1">
                          <a:effectLst/>
                        </a:rPr>
                        <a:t>Occ(N)</a:t>
                      </a:r>
                      <a:endParaRPr lang="en-US" b="1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08999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6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0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1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0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0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43221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5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0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1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0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1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1890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3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0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1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0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2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882859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1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0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1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1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2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93785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0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1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1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1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2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4075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4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1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2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1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2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52726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2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1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3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1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2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0667241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F6E9BF00-74CE-CF1D-72DC-48AC284B06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7149030"/>
              </p:ext>
            </p:extLst>
          </p:nvPr>
        </p:nvGraphicFramePr>
        <p:xfrm>
          <a:off x="8765978" y="3902386"/>
          <a:ext cx="2488176" cy="1661795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1244088">
                  <a:extLst>
                    <a:ext uri="{9D8B030D-6E8A-4147-A177-3AD203B41FA5}">
                      <a16:colId xmlns:a16="http://schemas.microsoft.com/office/drawing/2014/main" val="1336144197"/>
                    </a:ext>
                  </a:extLst>
                </a:gridCol>
                <a:gridCol w="1244088">
                  <a:extLst>
                    <a:ext uri="{9D8B030D-6E8A-4147-A177-3AD203B41FA5}">
                      <a16:colId xmlns:a16="http://schemas.microsoft.com/office/drawing/2014/main" val="30686459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1">
                          <a:effectLst/>
                        </a:rPr>
                        <a:t>Karakter</a:t>
                      </a:r>
                      <a:endParaRPr lang="en-US" b="1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1">
                          <a:effectLst/>
                        </a:rPr>
                        <a:t>Indeks u F koloni</a:t>
                      </a:r>
                      <a:endParaRPr lang="en-US" b="1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67396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$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0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570541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A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1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077871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B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4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521298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N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5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6001094"/>
                  </a:ext>
                </a:extLst>
              </a:tr>
            </a:tbl>
          </a:graphicData>
        </a:graphic>
      </p:graphicFrame>
      <p:sp>
        <p:nvSpPr>
          <p:cNvPr id="28" name="TextBox 27">
            <a:extLst>
              <a:ext uri="{FF2B5EF4-FFF2-40B4-BE49-F238E27FC236}">
                <a16:creationId xmlns:a16="http://schemas.microsoft.com/office/drawing/2014/main" id="{720A5488-5B45-1B75-A3D7-0F9DD3810D06}"/>
              </a:ext>
            </a:extLst>
          </p:cNvPr>
          <p:cNvSpPr txBox="1"/>
          <p:nvPr/>
        </p:nvSpPr>
        <p:spPr>
          <a:xfrm>
            <a:off x="181559" y="3902366"/>
            <a:ext cx="246359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Algoritam</a:t>
            </a:r>
            <a:r>
              <a:rPr lang="en-US" sz="2400" dirty="0"/>
              <a:t>:</a:t>
            </a:r>
          </a:p>
          <a:p>
            <a:pPr marL="342900" indent="-342900" algn="ctr">
              <a:buAutoNum type="arabicPeriod"/>
            </a:pPr>
            <a:r>
              <a:rPr lang="en-US" sz="2400" dirty="0"/>
              <a:t>L = BWT(T)</a:t>
            </a:r>
          </a:p>
          <a:p>
            <a:pPr marL="342900" indent="-342900" algn="ctr">
              <a:buAutoNum type="arabicPeriod"/>
            </a:pPr>
            <a:r>
              <a:rPr lang="en-US" sz="2400" dirty="0"/>
              <a:t>First column</a:t>
            </a:r>
          </a:p>
          <a:p>
            <a:pPr marL="342900" indent="-342900" algn="ctr">
              <a:buAutoNum type="arabicPeriod"/>
            </a:pPr>
            <a:r>
              <a:rPr lang="en-US" sz="2400" dirty="0"/>
              <a:t>Suffix Array</a:t>
            </a:r>
          </a:p>
          <a:p>
            <a:pPr marL="342900" indent="-342900" algn="ctr">
              <a:buAutoNum type="arabicPeriod"/>
            </a:pPr>
            <a:r>
              <a:rPr lang="en-US" sz="2400" dirty="0"/>
              <a:t>Occurrence matrix</a:t>
            </a:r>
          </a:p>
          <a:p>
            <a:endParaRPr lang="en-US" sz="24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BABF7C-F57F-8E5C-26E5-028D4C10538F}"/>
              </a:ext>
            </a:extLst>
          </p:cNvPr>
          <p:cNvSpPr txBox="1"/>
          <p:nvPr/>
        </p:nvSpPr>
        <p:spPr>
          <a:xfrm>
            <a:off x="2971800" y="3902005"/>
            <a:ext cx="461523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Problemi</a:t>
            </a:r>
            <a:r>
              <a:rPr lang="en-US" sz="2400" dirty="0"/>
              <a:t>:</a:t>
            </a:r>
          </a:p>
          <a:p>
            <a:pPr marL="342900" indent="-342900">
              <a:buAutoNum type="arabicPeriod"/>
            </a:pPr>
            <a:r>
              <a:rPr lang="sr-Latn-RS" sz="2400" dirty="0"/>
              <a:t>Sporo p</a:t>
            </a:r>
            <a:r>
              <a:rPr lang="en-US" sz="2400" dirty="0" err="1"/>
              <a:t>retra</a:t>
            </a:r>
            <a:r>
              <a:rPr lang="sr-Latn-RS" sz="2400" dirty="0"/>
              <a:t>živanje prethodnog karaktera O(m)</a:t>
            </a:r>
          </a:p>
          <a:p>
            <a:pPr marL="342900" indent="-342900">
              <a:buAutoNum type="arabicPeriod"/>
            </a:pPr>
            <a:r>
              <a:rPr lang="sr-Latn-RS" sz="2400" dirty="0"/>
              <a:t>Čuvanje rankova </a:t>
            </a:r>
          </a:p>
          <a:p>
            <a:pPr marL="342900" indent="-342900">
              <a:buAutoNum type="arabicPeriod"/>
            </a:pPr>
            <a:r>
              <a:rPr lang="sr-Latn-RS" sz="2400" dirty="0"/>
              <a:t>Određivnaje mesta preklapanja</a:t>
            </a:r>
            <a:endParaRPr lang="en-US" sz="24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A485ED-A476-62BA-09B9-0CD0E76C9693}"/>
              </a:ext>
            </a:extLst>
          </p:cNvPr>
          <p:cNvSpPr txBox="1"/>
          <p:nvPr/>
        </p:nvSpPr>
        <p:spPr>
          <a:xfrm>
            <a:off x="5690112" y="4841084"/>
            <a:ext cx="14734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2000" b="1" dirty="0"/>
              <a:t>Checkpoints</a:t>
            </a:r>
            <a:endParaRPr lang="en-US" sz="2000" b="1" dirty="0"/>
          </a:p>
        </p:txBody>
      </p:sp>
      <p:sp>
        <p:nvSpPr>
          <p:cNvPr id="32" name="Right Brace 31">
            <a:extLst>
              <a:ext uri="{FF2B5EF4-FFF2-40B4-BE49-F238E27FC236}">
                <a16:creationId xmlns:a16="http://schemas.microsoft.com/office/drawing/2014/main" id="{322594F8-F014-3C3E-662B-2E9DBBB9C0F2}"/>
              </a:ext>
            </a:extLst>
          </p:cNvPr>
          <p:cNvSpPr/>
          <p:nvPr/>
        </p:nvSpPr>
        <p:spPr>
          <a:xfrm>
            <a:off x="5540829" y="4732902"/>
            <a:ext cx="149283" cy="66641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A35E22D7-A1DF-EC2A-A6D8-E98752C1CB20}"/>
              </a:ext>
            </a:extLst>
          </p:cNvPr>
          <p:cNvCxnSpPr>
            <a:cxnSpLocks/>
            <a:stCxn id="29" idx="2"/>
          </p:cNvCxnSpPr>
          <p:nvPr/>
        </p:nvCxnSpPr>
        <p:spPr>
          <a:xfrm rot="16200000" flipH="1">
            <a:off x="5440465" y="5679951"/>
            <a:ext cx="331202" cy="653294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81C364C-A612-D9CD-69DD-18D6531D0E61}"/>
              </a:ext>
            </a:extLst>
          </p:cNvPr>
          <p:cNvSpPr txBox="1"/>
          <p:nvPr/>
        </p:nvSpPr>
        <p:spPr>
          <a:xfrm>
            <a:off x="5690112" y="4586938"/>
            <a:ext cx="67037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2000" b="1" dirty="0"/>
              <a:t>O(1)</a:t>
            </a:r>
            <a:endParaRPr lang="en-US" sz="2000" b="1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FC5CC9C-BABA-6501-F6B8-14008EF01DD1}"/>
              </a:ext>
            </a:extLst>
          </p:cNvPr>
          <p:cNvSpPr txBox="1"/>
          <p:nvPr/>
        </p:nvSpPr>
        <p:spPr>
          <a:xfrm>
            <a:off x="5932713" y="5949179"/>
            <a:ext cx="165432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SA sample</a:t>
            </a:r>
          </a:p>
        </p:txBody>
      </p:sp>
    </p:spTree>
    <p:extLst>
      <p:ext uri="{BB962C8B-B14F-4D97-AF65-F5344CB8AC3E}">
        <p14:creationId xmlns:p14="http://schemas.microsoft.com/office/powerpoint/2010/main" val="1720770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5A128-A4DA-E2B0-DE4C-92FE3D25F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Analizirani genomi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AD91240-4E29-07EF-B920-74DA205415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6136512"/>
              </p:ext>
            </p:extLst>
          </p:nvPr>
        </p:nvGraphicFramePr>
        <p:xfrm>
          <a:off x="566058" y="1572381"/>
          <a:ext cx="11059884" cy="4798985"/>
        </p:xfrm>
        <a:graphic>
          <a:graphicData uri="http://schemas.openxmlformats.org/drawingml/2006/table">
            <a:tbl>
              <a:tblPr firstRow="1" bandRow="1">
                <a:tableStyleId>{E8B1032C-EA38-4F05-BA0D-38AFFFC7BED3}</a:tableStyleId>
              </a:tblPr>
              <a:tblGrid>
                <a:gridCol w="3686628">
                  <a:extLst>
                    <a:ext uri="{9D8B030D-6E8A-4147-A177-3AD203B41FA5}">
                      <a16:colId xmlns:a16="http://schemas.microsoft.com/office/drawing/2014/main" val="3562162135"/>
                    </a:ext>
                  </a:extLst>
                </a:gridCol>
                <a:gridCol w="3686628">
                  <a:extLst>
                    <a:ext uri="{9D8B030D-6E8A-4147-A177-3AD203B41FA5}">
                      <a16:colId xmlns:a16="http://schemas.microsoft.com/office/drawing/2014/main" val="3803885974"/>
                    </a:ext>
                  </a:extLst>
                </a:gridCol>
                <a:gridCol w="3686628">
                  <a:extLst>
                    <a:ext uri="{9D8B030D-6E8A-4147-A177-3AD203B41FA5}">
                      <a16:colId xmlns:a16="http://schemas.microsoft.com/office/drawing/2014/main" val="3164098806"/>
                    </a:ext>
                  </a:extLst>
                </a:gridCol>
              </a:tblGrid>
              <a:tr h="778354">
                <a:tc>
                  <a:txBody>
                    <a:bodyPr/>
                    <a:lstStyle/>
                    <a:p>
                      <a:r>
                        <a:rPr lang="sr-Latn-RS" sz="2400" dirty="0"/>
                        <a:t>Coffea Arabica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sz="2400" dirty="0"/>
                        <a:t>Mus Pahari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kern="1200" dirty="0">
                          <a:solidFill>
                            <a:schemeClr val="tx1"/>
                          </a:solidFill>
                          <a:effectLst/>
                        </a:rPr>
                        <a:t>Ornithorhynchus anatinus</a:t>
                      </a:r>
                    </a:p>
                    <a:p>
                      <a:r>
                        <a:rPr lang="sr-Latn-RS" sz="2400" dirty="0"/>
                        <a:t>(Platypus)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8383981"/>
                  </a:ext>
                </a:extLst>
              </a:tr>
              <a:tr h="345935">
                <a:tc>
                  <a:txBody>
                    <a:bodyPr/>
                    <a:lstStyle/>
                    <a:p>
                      <a:r>
                        <a:rPr lang="sr-Latn-RS" dirty="0"/>
                        <a:t>Chromosome 1c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/>
                        <a:t>Chromosome 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/>
                        <a:t>Chromosome X1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7960686"/>
                  </a:ext>
                </a:extLst>
              </a:tr>
              <a:tr h="11242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ATGCATG, </a:t>
                      </a:r>
                      <a:endParaRPr lang="sr-Latn-RS" sz="1800" b="0" u="none" strike="noStrike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TCTCTCTA, </a:t>
                      </a:r>
                      <a:endParaRPr lang="sr-Latn-RS" sz="1800" b="0" u="none" strike="noStrike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TTCACTACTCTCA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ATGATG, </a:t>
                      </a:r>
                      <a:endParaRPr lang="sr-Latn-RS" sz="1800" b="0" u="none" strike="noStrike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r>
                        <a:rPr lang="en-US" sz="18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CTCTCTA, </a:t>
                      </a:r>
                      <a:endParaRPr lang="sr-Latn-RS" sz="1800" b="0" u="none" strike="noStrike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r>
                        <a:rPr lang="en-US" sz="18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TCACTACTCTCA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GCAGTGG, </a:t>
                      </a:r>
                    </a:p>
                    <a:p>
                      <a:r>
                        <a:rPr lang="en-US" dirty="0"/>
                        <a:t>ACAAAGGGCAAGAAGAA,</a:t>
                      </a:r>
                    </a:p>
                    <a:p>
                      <a:r>
                        <a:rPr lang="en-US" dirty="0"/>
                        <a:t>GATGTTGTGGCAGAGCTTGAAGATT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7292022"/>
                  </a:ext>
                </a:extLst>
              </a:tr>
              <a:tr h="2421545">
                <a:tc>
                  <a:txBody>
                    <a:bodyPr/>
                    <a:lstStyle/>
                    <a:p>
                      <a:endParaRPr lang="sr-Latn-R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4261099"/>
                  </a:ext>
                </a:extLst>
              </a:tr>
            </a:tbl>
          </a:graphicData>
        </a:graphic>
      </p:graphicFrame>
      <p:pic>
        <p:nvPicPr>
          <p:cNvPr id="2052" name="Picture 4" descr="Food-Info.net&gt; The Coffee Plant">
            <a:extLst>
              <a:ext uri="{FF2B5EF4-FFF2-40B4-BE49-F238E27FC236}">
                <a16:creationId xmlns:a16="http://schemas.microsoft.com/office/drawing/2014/main" id="{445692F6-5742-F1D8-6BD6-031E4149AB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0395" y="3971873"/>
            <a:ext cx="2040785" cy="2322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Mus (genus) - Wikipedia">
            <a:extLst>
              <a:ext uri="{FF2B5EF4-FFF2-40B4-BE49-F238E27FC236}">
                <a16:creationId xmlns:a16="http://schemas.microsoft.com/office/drawing/2014/main" id="{58DA0164-0D95-B2A1-DFEB-FB8B8E1328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8800"/>
                    </a14:imgEffect>
                    <a14:imgEffect>
                      <a14:saturation sat="66000"/>
                    </a14:imgEffect>
                    <a14:imgEffect>
                      <a14:brightnessContrast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4875" y="4304502"/>
            <a:ext cx="2762250" cy="1657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Phineas and Ferb Theory: Why Perry the Platypus Lives With the Family">
            <a:extLst>
              <a:ext uri="{FF2B5EF4-FFF2-40B4-BE49-F238E27FC236}">
                <a16:creationId xmlns:a16="http://schemas.microsoft.com/office/drawing/2014/main" id="{EF6EBB59-D7FE-0175-56D9-9A4C0840FC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8086" y="4304502"/>
            <a:ext cx="3374572" cy="1687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5823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F49D27-BB79-EE5C-467F-21FAE6C90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u="sng"/>
              <a:t>Optimizacije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4B37E5-9B95-C860-8B80-625E7080FB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b="1"/>
              <a:t>1) Konstrukcija BWT i SA - divsufsort</a:t>
            </a:r>
            <a:r>
              <a:rPr lang="en-US" sz="2200"/>
              <a:t> jedan od najbržih poznatih algoritama </a:t>
            </a:r>
            <a:endParaRPr lang="en-US" sz="2200" b="1"/>
          </a:p>
          <a:p>
            <a:pPr marL="0" indent="0">
              <a:buNone/>
            </a:pPr>
            <a:r>
              <a:rPr lang="en-US" sz="2200"/>
              <a:t>Naivni pristup sa sortiranjem rotacija je O(n² log n), dok je divsufsort:</a:t>
            </a:r>
          </a:p>
          <a:p>
            <a:pPr marL="0" indent="0">
              <a:buNone/>
            </a:pPr>
            <a:r>
              <a:rPr lang="en-US" sz="2200"/>
              <a:t>Worst-case time: O(n log n) </a:t>
            </a:r>
          </a:p>
          <a:p>
            <a:pPr marL="0" indent="0">
              <a:buNone/>
            </a:pPr>
            <a:r>
              <a:rPr lang="en-US" sz="2200"/>
              <a:t>Memory space: 5n+O(1) bytes </a:t>
            </a:r>
          </a:p>
          <a:p>
            <a:pPr marL="0" indent="0">
              <a:buNone/>
            </a:pPr>
            <a:r>
              <a:rPr lang="en-US" sz="2200" b="1"/>
              <a:t>2) Kontrolne tačke (Checkpointing):</a:t>
            </a:r>
            <a:r>
              <a:rPr lang="en-US" sz="2200"/>
              <a:t> Čuva broj karaktera samo u fiksnim intervalima (npr. svaka 128. pozicija). Da bi se pronašao broj na bilo kojoj drugoj poziciji, preuzima najbližu kontrolnu tačku (checkpoint) i izračunava preostali broj.</a:t>
            </a:r>
          </a:p>
          <a:p>
            <a:pPr marL="0" indent="0">
              <a:buNone/>
            </a:pPr>
            <a:endParaRPr lang="en-US" sz="2200"/>
          </a:p>
          <a:p>
            <a:pPr marL="0" indent="0">
              <a:buNone/>
            </a:pPr>
            <a:r>
              <a:rPr lang="en-US" sz="2200" b="1"/>
              <a:t>3) Uzorkovanje sufiksnog niza: </a:t>
            </a:r>
            <a:r>
              <a:rPr lang="en-US" sz="2200"/>
              <a:t>Čuva samo svaki k-ti unos sufiksnog niza. Pozicije koje nisu direktno sačuvane rešavaju se korišćenjem koraka unazad sa BWT-om.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B269D8-F7C6-F412-203C-2C455CAEBA2C}"/>
              </a:ext>
            </a:extLst>
          </p:cNvPr>
          <p:cNvSpPr txBox="1">
            <a:spLocks/>
          </p:cNvSpPr>
          <p:nvPr/>
        </p:nvSpPr>
        <p:spPr>
          <a:xfrm>
            <a:off x="226945" y="3274799"/>
            <a:ext cx="11845449" cy="2086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847784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77F52-BE95-0628-194A-460AD273C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903" y="0"/>
            <a:ext cx="12192000" cy="1325563"/>
          </a:xfrm>
        </p:spPr>
        <p:txBody>
          <a:bodyPr>
            <a:normAutofit/>
          </a:bodyPr>
          <a:lstStyle/>
          <a:p>
            <a:r>
              <a:rPr lang="en-US" sz="2400" dirty="0"/>
              <a:t>Checkpoints i </a:t>
            </a:r>
            <a:r>
              <a:rPr lang="en-US" sz="2400" dirty="0" err="1"/>
              <a:t>uzorkovanje</a:t>
            </a:r>
            <a:r>
              <a:rPr lang="en-US" sz="2400" dirty="0"/>
              <a:t> SA </a:t>
            </a:r>
            <a:r>
              <a:rPr lang="en-US" sz="2400" dirty="0" err="1"/>
              <a:t>na</a:t>
            </a:r>
            <a:r>
              <a:rPr lang="en-US" sz="2400" dirty="0"/>
              <a:t> </a:t>
            </a:r>
            <a:r>
              <a:rPr lang="en-US" sz="2400" dirty="0" err="1"/>
              <a:t>prostom</a:t>
            </a:r>
            <a:r>
              <a:rPr lang="en-US" sz="2400" dirty="0"/>
              <a:t> </a:t>
            </a:r>
            <a:r>
              <a:rPr lang="en-US" sz="2400" dirty="0" err="1"/>
              <a:t>primeru</a:t>
            </a:r>
            <a:r>
              <a:rPr lang="en-US" sz="2400" dirty="0"/>
              <a:t> – BANANA  L : A, N, N, B, $, A, A</a:t>
            </a:r>
            <a:br>
              <a:rPr lang="en-US" sz="2400" dirty="0"/>
            </a:br>
            <a:endParaRPr lang="en-US" sz="24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D0304D5-C948-4925-15E3-439C78A614EF}"/>
              </a:ext>
            </a:extLst>
          </p:cNvPr>
          <p:cNvCxnSpPr>
            <a:cxnSpLocks/>
          </p:cNvCxnSpPr>
          <p:nvPr/>
        </p:nvCxnSpPr>
        <p:spPr>
          <a:xfrm>
            <a:off x="6096000" y="1175092"/>
            <a:ext cx="0" cy="527200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1144A2F-CED9-46F6-4FD8-BA22B2B508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8103391"/>
              </p:ext>
            </p:extLst>
          </p:nvPr>
        </p:nvGraphicFramePr>
        <p:xfrm>
          <a:off x="1016939" y="1175092"/>
          <a:ext cx="3852720" cy="107442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362268">
                  <a:extLst>
                    <a:ext uri="{9D8B030D-6E8A-4147-A177-3AD203B41FA5}">
                      <a16:colId xmlns:a16="http://schemas.microsoft.com/office/drawing/2014/main" val="504391349"/>
                    </a:ext>
                  </a:extLst>
                </a:gridCol>
                <a:gridCol w="872613">
                  <a:extLst>
                    <a:ext uri="{9D8B030D-6E8A-4147-A177-3AD203B41FA5}">
                      <a16:colId xmlns:a16="http://schemas.microsoft.com/office/drawing/2014/main" val="3595451701"/>
                    </a:ext>
                  </a:extLst>
                </a:gridCol>
                <a:gridCol w="872613">
                  <a:extLst>
                    <a:ext uri="{9D8B030D-6E8A-4147-A177-3AD203B41FA5}">
                      <a16:colId xmlns:a16="http://schemas.microsoft.com/office/drawing/2014/main" val="1036463801"/>
                    </a:ext>
                  </a:extLst>
                </a:gridCol>
                <a:gridCol w="872613">
                  <a:extLst>
                    <a:ext uri="{9D8B030D-6E8A-4147-A177-3AD203B41FA5}">
                      <a16:colId xmlns:a16="http://schemas.microsoft.com/office/drawing/2014/main" val="1187070211"/>
                    </a:ext>
                  </a:extLst>
                </a:gridCol>
                <a:gridCol w="872613">
                  <a:extLst>
                    <a:ext uri="{9D8B030D-6E8A-4147-A177-3AD203B41FA5}">
                      <a16:colId xmlns:a16="http://schemas.microsoft.com/office/drawing/2014/main" val="4254431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1" dirty="0" err="1">
                          <a:effectLst/>
                        </a:rPr>
                        <a:t>i</a:t>
                      </a:r>
                      <a:r>
                        <a:rPr lang="en-US" b="1" dirty="0">
                          <a:effectLst/>
                        </a:rPr>
                        <a:t> </a:t>
                      </a:r>
                    </a:p>
                    <a:p>
                      <a:pPr>
                        <a:lnSpc>
                          <a:spcPts val="1500"/>
                        </a:lnSpc>
                        <a:buNone/>
                      </a:pPr>
                      <a:endParaRPr lang="en-US" b="1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1">
                          <a:effectLst/>
                        </a:rPr>
                        <a:t>Occ($)</a:t>
                      </a:r>
                      <a:endParaRPr lang="en-US" b="1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1">
                          <a:effectLst/>
                        </a:rPr>
                        <a:t>Occ(A)</a:t>
                      </a:r>
                      <a:endParaRPr lang="en-US" b="1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1">
                          <a:effectLst/>
                        </a:rPr>
                        <a:t>Occ(B)</a:t>
                      </a:r>
                      <a:endParaRPr lang="en-US" b="1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1">
                          <a:effectLst/>
                        </a:rPr>
                        <a:t>Occ(N)</a:t>
                      </a:r>
                      <a:endParaRPr lang="en-US" b="1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08999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Inter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0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1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0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0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43221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4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1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Inte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1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2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1890546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C566551E-1E06-ADFC-9BC4-44D2EEB44349}"/>
              </a:ext>
            </a:extLst>
          </p:cNvPr>
          <p:cNvSpPr txBox="1"/>
          <p:nvPr/>
        </p:nvSpPr>
        <p:spPr>
          <a:xfrm>
            <a:off x="399852" y="2381542"/>
            <a:ext cx="541103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Occ(‘A’, 6) = ?</a:t>
            </a:r>
          </a:p>
          <a:p>
            <a:r>
              <a:rPr lang="en-US" sz="2000" dirty="0"/>
              <a:t>Occ(‘A’, 4) = 1</a:t>
            </a:r>
          </a:p>
          <a:p>
            <a:r>
              <a:rPr lang="en-US" sz="2000" dirty="0"/>
              <a:t>Occ(‘A’, 6) = Occ(‘A’, 4) + (L[5]==‘A’) + (L[6]==‘A’) </a:t>
            </a:r>
          </a:p>
          <a:p>
            <a:r>
              <a:rPr lang="en-US" sz="2000" dirty="0"/>
              <a:t>Occ(‘A’, 6) = 3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C017D1F-6EE7-989D-F2F1-90835ED28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2273492"/>
              </p:ext>
            </p:extLst>
          </p:nvPr>
        </p:nvGraphicFramePr>
        <p:xfrm>
          <a:off x="1016939" y="3902146"/>
          <a:ext cx="4060682" cy="254762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570230">
                  <a:extLst>
                    <a:ext uri="{9D8B030D-6E8A-4147-A177-3AD203B41FA5}">
                      <a16:colId xmlns:a16="http://schemas.microsoft.com/office/drawing/2014/main" val="504391349"/>
                    </a:ext>
                  </a:extLst>
                </a:gridCol>
                <a:gridCol w="872613">
                  <a:extLst>
                    <a:ext uri="{9D8B030D-6E8A-4147-A177-3AD203B41FA5}">
                      <a16:colId xmlns:a16="http://schemas.microsoft.com/office/drawing/2014/main" val="3595451701"/>
                    </a:ext>
                  </a:extLst>
                </a:gridCol>
                <a:gridCol w="872613">
                  <a:extLst>
                    <a:ext uri="{9D8B030D-6E8A-4147-A177-3AD203B41FA5}">
                      <a16:colId xmlns:a16="http://schemas.microsoft.com/office/drawing/2014/main" val="1036463801"/>
                    </a:ext>
                  </a:extLst>
                </a:gridCol>
                <a:gridCol w="872613">
                  <a:extLst>
                    <a:ext uri="{9D8B030D-6E8A-4147-A177-3AD203B41FA5}">
                      <a16:colId xmlns:a16="http://schemas.microsoft.com/office/drawing/2014/main" val="1187070211"/>
                    </a:ext>
                  </a:extLst>
                </a:gridCol>
                <a:gridCol w="872613">
                  <a:extLst>
                    <a:ext uri="{9D8B030D-6E8A-4147-A177-3AD203B41FA5}">
                      <a16:colId xmlns:a16="http://schemas.microsoft.com/office/drawing/2014/main" val="4254431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1" dirty="0" err="1">
                          <a:effectLst/>
                        </a:rPr>
                        <a:t>i</a:t>
                      </a:r>
                      <a:endParaRPr lang="en-US" b="1" dirty="0">
                        <a:effectLst/>
                      </a:endParaRPr>
                    </a:p>
                    <a:p>
                      <a:pPr>
                        <a:lnSpc>
                          <a:spcPts val="1500"/>
                        </a:lnSpc>
                        <a:buNone/>
                      </a:pPr>
                      <a:endParaRPr lang="en-US" b="1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1" dirty="0">
                          <a:effectLst/>
                        </a:rPr>
                        <a:t>Occ($)</a:t>
                      </a:r>
                      <a:endParaRPr lang="en-US" b="1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1">
                          <a:effectLst/>
                        </a:rPr>
                        <a:t>Occ(A)</a:t>
                      </a:r>
                      <a:endParaRPr lang="en-US" b="1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1">
                          <a:effectLst/>
                        </a:rPr>
                        <a:t>Occ(B)</a:t>
                      </a:r>
                      <a:endParaRPr lang="en-US" b="1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1">
                          <a:effectLst/>
                        </a:rPr>
                        <a:t>Occ(N)</a:t>
                      </a:r>
                      <a:endParaRPr lang="en-US" b="1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08999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Inter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0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1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0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0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43221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Inte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0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1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0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1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1890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Inter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0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1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0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2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882859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Inter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0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1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1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2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93785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Inter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1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1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1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2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4075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Inter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1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2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1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2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52726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Inter"/>
                        </a:rPr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1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3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1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2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0667241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C9948AA4-B9AA-AFA9-7950-015192603358}"/>
              </a:ext>
            </a:extLst>
          </p:cNvPr>
          <p:cNvSpPr/>
          <p:nvPr/>
        </p:nvSpPr>
        <p:spPr>
          <a:xfrm>
            <a:off x="1016939" y="4687746"/>
            <a:ext cx="4060682" cy="879677"/>
          </a:xfrm>
          <a:prstGeom prst="rect">
            <a:avLst/>
          </a:prstGeom>
          <a:solidFill>
            <a:srgbClr val="99CCFF">
              <a:alpha val="16863"/>
            </a:srgbClr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F1A002-2774-67D5-E4D1-B686807A37DB}"/>
              </a:ext>
            </a:extLst>
          </p:cNvPr>
          <p:cNvSpPr/>
          <p:nvPr/>
        </p:nvSpPr>
        <p:spPr>
          <a:xfrm>
            <a:off x="1016939" y="5835939"/>
            <a:ext cx="4060682" cy="333368"/>
          </a:xfrm>
          <a:prstGeom prst="rect">
            <a:avLst/>
          </a:prstGeom>
          <a:solidFill>
            <a:srgbClr val="99CCFF">
              <a:alpha val="16863"/>
            </a:srgbClr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4A70BAA-E7A8-DE50-B2B7-A3D0F0C975F0}"/>
              </a:ext>
            </a:extLst>
          </p:cNvPr>
          <p:cNvSpPr/>
          <p:nvPr/>
        </p:nvSpPr>
        <p:spPr>
          <a:xfrm>
            <a:off x="1016939" y="6181477"/>
            <a:ext cx="4060682" cy="268516"/>
          </a:xfrm>
          <a:prstGeom prst="rect">
            <a:avLst/>
          </a:prstGeom>
          <a:solidFill>
            <a:srgbClr val="92D050">
              <a:alpha val="50196"/>
            </a:srgbClr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EB78A196-B731-7867-596E-BA90529FED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6827500"/>
              </p:ext>
            </p:extLst>
          </p:nvPr>
        </p:nvGraphicFramePr>
        <p:xfrm>
          <a:off x="6990018" y="1266142"/>
          <a:ext cx="664647" cy="2546858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664647">
                  <a:extLst>
                    <a:ext uri="{9D8B030D-6E8A-4147-A177-3AD203B41FA5}">
                      <a16:colId xmlns:a16="http://schemas.microsoft.com/office/drawing/2014/main" val="13929081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1" dirty="0">
                          <a:effectLst/>
                        </a:rPr>
                        <a:t>SA </a:t>
                      </a:r>
                    </a:p>
                    <a:p>
                      <a:pPr>
                        <a:lnSpc>
                          <a:spcPts val="1500"/>
                        </a:lnSpc>
                        <a:buNone/>
                      </a:pPr>
                      <a:endParaRPr lang="en-US" b="1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71779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6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05448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Inter"/>
                        </a:rPr>
                        <a:t>/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354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Inter"/>
                        </a:rPr>
                        <a:t>/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2163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Inter"/>
                        </a:rPr>
                        <a:t>/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41650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0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040920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Inter"/>
                        </a:rPr>
                        <a:t>/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11291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Inter"/>
                        </a:rPr>
                        <a:t>/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6069921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824E9915-E748-D3FA-A56C-45A7EF906B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041233"/>
              </p:ext>
            </p:extLst>
          </p:nvPr>
        </p:nvGraphicFramePr>
        <p:xfrm>
          <a:off x="6419788" y="1263475"/>
          <a:ext cx="570230" cy="254762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570230">
                  <a:extLst>
                    <a:ext uri="{9D8B030D-6E8A-4147-A177-3AD203B41FA5}">
                      <a16:colId xmlns:a16="http://schemas.microsoft.com/office/drawing/2014/main" val="2212543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1" dirty="0" err="1">
                          <a:effectLst/>
                        </a:rPr>
                        <a:t>i</a:t>
                      </a:r>
                      <a:endParaRPr lang="en-US" b="1" dirty="0">
                        <a:effectLst/>
                      </a:endParaRPr>
                    </a:p>
                    <a:p>
                      <a:pPr>
                        <a:lnSpc>
                          <a:spcPts val="1500"/>
                        </a:lnSpc>
                        <a:buNone/>
                      </a:pPr>
                      <a:endParaRPr lang="en-US" b="1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7379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Inter"/>
                        </a:rPr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1438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Inter"/>
                        </a:rPr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4474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Inter"/>
                        </a:rPr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91648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Inter"/>
                        </a:rPr>
                        <a:t>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48310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Inter"/>
                        </a:rPr>
                        <a:t>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42964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Inter"/>
                        </a:rPr>
                        <a:t>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007775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Inter"/>
                        </a:rPr>
                        <a:t>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6470264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25E0E83B-6C0B-AE01-C9CC-3EF50CEF84A9}"/>
              </a:ext>
            </a:extLst>
          </p:cNvPr>
          <p:cNvSpPr txBox="1"/>
          <p:nvPr/>
        </p:nvSpPr>
        <p:spPr>
          <a:xfrm>
            <a:off x="7654665" y="989546"/>
            <a:ext cx="4544321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SA[3] = ?</a:t>
            </a:r>
          </a:p>
          <a:p>
            <a:endParaRPr lang="en-US" sz="2000" dirty="0"/>
          </a:p>
          <a:p>
            <a:r>
              <a:rPr lang="en-US" sz="2000" dirty="0"/>
              <a:t>L[3]  = B</a:t>
            </a:r>
          </a:p>
          <a:p>
            <a:r>
              <a:rPr lang="en-US" sz="2000" dirty="0"/>
              <a:t>C[‘B’] = 4,  Occ[‘B’, 3] = 1</a:t>
            </a:r>
          </a:p>
          <a:p>
            <a:r>
              <a:rPr lang="en-US" sz="2000" dirty="0"/>
              <a:t>Korak: 4+1-1 = 4</a:t>
            </a:r>
          </a:p>
          <a:p>
            <a:endParaRPr lang="en-US" sz="2000" dirty="0"/>
          </a:p>
          <a:p>
            <a:r>
              <a:rPr lang="en-US" sz="2000" dirty="0"/>
              <a:t>SA[4] = 0</a:t>
            </a:r>
          </a:p>
          <a:p>
            <a:r>
              <a:rPr lang="en-US" sz="2000" dirty="0" err="1"/>
              <a:t>Broj</a:t>
            </a:r>
            <a:r>
              <a:rPr lang="en-US" sz="2000" dirty="0"/>
              <a:t> </a:t>
            </a:r>
            <a:r>
              <a:rPr lang="en-US" sz="2000" dirty="0" err="1"/>
              <a:t>koraka</a:t>
            </a:r>
            <a:r>
              <a:rPr lang="en-US" sz="2000" dirty="0"/>
              <a:t>: 1</a:t>
            </a:r>
          </a:p>
          <a:p>
            <a:r>
              <a:rPr lang="sv-SE" sz="2000" dirty="0"/>
              <a:t>SA[3] = SA[4] + broj_koraka = 0 + 1 = 1</a:t>
            </a: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9107D42B-5F96-FD96-5EEC-DDCCD76F59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4628605"/>
              </p:ext>
            </p:extLst>
          </p:nvPr>
        </p:nvGraphicFramePr>
        <p:xfrm>
          <a:off x="6303962" y="4760960"/>
          <a:ext cx="2488176" cy="1661795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1244088">
                  <a:extLst>
                    <a:ext uri="{9D8B030D-6E8A-4147-A177-3AD203B41FA5}">
                      <a16:colId xmlns:a16="http://schemas.microsoft.com/office/drawing/2014/main" val="1336144197"/>
                    </a:ext>
                  </a:extLst>
                </a:gridCol>
                <a:gridCol w="1244088">
                  <a:extLst>
                    <a:ext uri="{9D8B030D-6E8A-4147-A177-3AD203B41FA5}">
                      <a16:colId xmlns:a16="http://schemas.microsoft.com/office/drawing/2014/main" val="30686459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1">
                          <a:effectLst/>
                        </a:rPr>
                        <a:t>Karakter</a:t>
                      </a:r>
                      <a:endParaRPr lang="en-US" b="1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1">
                          <a:effectLst/>
                        </a:rPr>
                        <a:t>Indeks u F koloni</a:t>
                      </a:r>
                      <a:endParaRPr lang="en-US" b="1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67396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$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0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570541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A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1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077871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B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4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521298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N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5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6001094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284F0D00-2B34-D278-5773-40079B21E3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174408"/>
              </p:ext>
            </p:extLst>
          </p:nvPr>
        </p:nvGraphicFramePr>
        <p:xfrm>
          <a:off x="10873451" y="3903479"/>
          <a:ext cx="872613" cy="2544953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872613">
                  <a:extLst>
                    <a:ext uri="{9D8B030D-6E8A-4147-A177-3AD203B41FA5}">
                      <a16:colId xmlns:a16="http://schemas.microsoft.com/office/drawing/2014/main" val="32863719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1" dirty="0">
                          <a:effectLst/>
                        </a:rPr>
                        <a:t>SA </a:t>
                      </a:r>
                    </a:p>
                    <a:p>
                      <a:pPr>
                        <a:lnSpc>
                          <a:spcPts val="1500"/>
                        </a:lnSpc>
                        <a:buNone/>
                      </a:pPr>
                      <a:endParaRPr lang="en-US" b="1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951163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6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65750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5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058094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3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07851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1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011563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0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187812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>
                          <a:effectLst/>
                        </a:rPr>
                        <a:t>4</a:t>
                      </a:r>
                      <a:endParaRPr lang="en-US" b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980932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</a:rPr>
                        <a:t>2</a:t>
                      </a:r>
                      <a:endParaRPr lang="en-US" b="0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4019644"/>
                  </a:ext>
                </a:extLst>
              </a:tr>
            </a:tbl>
          </a:graphicData>
        </a:graphic>
      </p:graphicFrame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5747571B-59BC-5A77-CEBF-52D7785B5D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9654880"/>
              </p:ext>
            </p:extLst>
          </p:nvPr>
        </p:nvGraphicFramePr>
        <p:xfrm>
          <a:off x="10303221" y="3899479"/>
          <a:ext cx="570230" cy="254762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570230">
                  <a:extLst>
                    <a:ext uri="{9D8B030D-6E8A-4147-A177-3AD203B41FA5}">
                      <a16:colId xmlns:a16="http://schemas.microsoft.com/office/drawing/2014/main" val="3508608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1" dirty="0" err="1">
                          <a:effectLst/>
                        </a:rPr>
                        <a:t>i</a:t>
                      </a:r>
                      <a:endParaRPr lang="en-US" b="1" dirty="0">
                        <a:effectLst/>
                      </a:endParaRPr>
                    </a:p>
                    <a:p>
                      <a:pPr>
                        <a:lnSpc>
                          <a:spcPts val="1500"/>
                        </a:lnSpc>
                        <a:buNone/>
                      </a:pPr>
                      <a:endParaRPr lang="en-US" b="1" dirty="0">
                        <a:effectLst/>
                        <a:latin typeface="Inte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42694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Inter"/>
                        </a:rPr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332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Inter"/>
                        </a:rPr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325755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Inter"/>
                        </a:rPr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72016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Inter"/>
                        </a:rPr>
                        <a:t>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18831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Inter"/>
                        </a:rPr>
                        <a:t>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22851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Inter"/>
                        </a:rPr>
                        <a:t>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52398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Inter"/>
                        </a:rPr>
                        <a:t>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13421487"/>
                  </a:ext>
                </a:extLst>
              </a:tr>
            </a:tbl>
          </a:graphicData>
        </a:graphic>
      </p:graphicFrame>
      <p:sp>
        <p:nvSpPr>
          <p:cNvPr id="23" name="Rectangle 22">
            <a:extLst>
              <a:ext uri="{FF2B5EF4-FFF2-40B4-BE49-F238E27FC236}">
                <a16:creationId xmlns:a16="http://schemas.microsoft.com/office/drawing/2014/main" id="{1989ACD9-6DD8-5346-6E54-5B7034000E14}"/>
              </a:ext>
            </a:extLst>
          </p:cNvPr>
          <p:cNvSpPr/>
          <p:nvPr/>
        </p:nvSpPr>
        <p:spPr>
          <a:xfrm>
            <a:off x="10303220" y="3898147"/>
            <a:ext cx="1442843" cy="477083"/>
          </a:xfrm>
          <a:prstGeom prst="rect">
            <a:avLst/>
          </a:prstGeom>
          <a:solidFill>
            <a:srgbClr val="99CCFF">
              <a:alpha val="16863"/>
            </a:srgbClr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E920475-7A61-C333-0AD2-329D2A4BC20C}"/>
              </a:ext>
            </a:extLst>
          </p:cNvPr>
          <p:cNvSpPr/>
          <p:nvPr/>
        </p:nvSpPr>
        <p:spPr>
          <a:xfrm>
            <a:off x="10303218" y="4696452"/>
            <a:ext cx="1442843" cy="581091"/>
          </a:xfrm>
          <a:prstGeom prst="rect">
            <a:avLst/>
          </a:prstGeom>
          <a:solidFill>
            <a:srgbClr val="99CCFF">
              <a:alpha val="16863"/>
            </a:srgbClr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473564D-76AE-781E-723F-5500460AF9F4}"/>
              </a:ext>
            </a:extLst>
          </p:cNvPr>
          <p:cNvSpPr/>
          <p:nvPr/>
        </p:nvSpPr>
        <p:spPr>
          <a:xfrm>
            <a:off x="10303220" y="5841664"/>
            <a:ext cx="1442843" cy="581091"/>
          </a:xfrm>
          <a:prstGeom prst="rect">
            <a:avLst/>
          </a:prstGeom>
          <a:solidFill>
            <a:srgbClr val="99CCFF">
              <a:alpha val="16863"/>
            </a:srgbClr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800939E-DC1F-2CC7-3089-A24D215E3F4B}"/>
              </a:ext>
            </a:extLst>
          </p:cNvPr>
          <p:cNvSpPr/>
          <p:nvPr/>
        </p:nvSpPr>
        <p:spPr>
          <a:xfrm>
            <a:off x="10303219" y="5286861"/>
            <a:ext cx="1442843" cy="280561"/>
          </a:xfrm>
          <a:prstGeom prst="rect">
            <a:avLst/>
          </a:prstGeom>
          <a:solidFill>
            <a:srgbClr val="92D050">
              <a:alpha val="50196"/>
            </a:srgbClr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75905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oup of graphs and charts&#10;&#10;AI-generated content may be incorrect.">
            <a:extLst>
              <a:ext uri="{FF2B5EF4-FFF2-40B4-BE49-F238E27FC236}">
                <a16:creationId xmlns:a16="http://schemas.microsoft.com/office/drawing/2014/main" id="{78DD5D66-2F29-818C-9A10-621697CB96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8168" y="131606"/>
            <a:ext cx="7536899" cy="6594788"/>
          </a:xfrm>
        </p:spPr>
      </p:pic>
      <p:pic>
        <p:nvPicPr>
          <p:cNvPr id="16" name="Picture 4" descr="Food-Info.net&gt; The Coffee Plant">
            <a:extLst>
              <a:ext uri="{FF2B5EF4-FFF2-40B4-BE49-F238E27FC236}">
                <a16:creationId xmlns:a16="http://schemas.microsoft.com/office/drawing/2014/main" id="{CFBB554F-0F0B-21D8-3165-7CC60D4CC3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976" y="2429742"/>
            <a:ext cx="2040785" cy="2322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35E7F73C-CFC7-B561-7A86-59BDF99D5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569" y="0"/>
            <a:ext cx="10515600" cy="1325563"/>
          </a:xfrm>
        </p:spPr>
        <p:txBody>
          <a:bodyPr/>
          <a:lstStyle/>
          <a:p>
            <a:r>
              <a:rPr lang="en-US" dirty="0" err="1"/>
              <a:t>Rezultati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90237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7C0A90-7A50-4CC1-C50D-351EEFB6E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2DBE28B-F44D-FF1E-8E05-8E764B839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B447EBC-0EF1-D910-CF71-CA049A985C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59F2088-8DDB-50DC-7F53-7B51A5ED9A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42F8479-49AA-F00E-BDCF-92A6AA044A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1FD43B5-C465-2C50-9822-8FC02205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C1766EB8-F9F9-BEA9-AF37-780A1B2B3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C04C62BD-C7A1-71A8-B4CC-E9AFE05E8C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Content Placeholder 6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61043ED6-A4BC-2405-C2BD-5071182062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512" y="1567832"/>
            <a:ext cx="11240976" cy="374699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D725934-A393-8605-5F23-773A8F51F3AF}"/>
              </a:ext>
            </a:extLst>
          </p:cNvPr>
          <p:cNvSpPr txBox="1"/>
          <p:nvPr/>
        </p:nvSpPr>
        <p:spPr>
          <a:xfrm>
            <a:off x="1762246" y="5092539"/>
            <a:ext cx="60940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7878</a:t>
            </a:r>
            <a:r>
              <a:rPr lang="en-US" sz="1800" dirty="0"/>
              <a:t> times </a:t>
            </a:r>
            <a:endParaRPr lang="en-US" sz="1800" dirty="0">
              <a:latin typeface="+mn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CA16F2-637E-1459-FDD5-7C1B3532A36A}"/>
              </a:ext>
            </a:extLst>
          </p:cNvPr>
          <p:cNvSpPr txBox="1"/>
          <p:nvPr/>
        </p:nvSpPr>
        <p:spPr>
          <a:xfrm>
            <a:off x="5622418" y="5092539"/>
            <a:ext cx="60940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1396 </a:t>
            </a:r>
            <a:r>
              <a:rPr lang="en-US" sz="1800" dirty="0"/>
              <a:t>times </a:t>
            </a:r>
            <a:endParaRPr lang="en-US" sz="1800" dirty="0">
              <a:latin typeface="+mn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80E0B6-F2B8-3C9B-1326-CDE9E3A72BDE}"/>
              </a:ext>
            </a:extLst>
          </p:cNvPr>
          <p:cNvSpPr txBox="1"/>
          <p:nvPr/>
        </p:nvSpPr>
        <p:spPr>
          <a:xfrm>
            <a:off x="9394141" y="5092539"/>
            <a:ext cx="60940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0</a:t>
            </a:r>
            <a:r>
              <a:rPr lang="en-US" sz="1800" dirty="0"/>
              <a:t> times</a:t>
            </a:r>
            <a:endParaRPr lang="en-US" sz="1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054692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38FE2B26-BA33-548D-AC13-BA310DAD27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2322" y="0"/>
            <a:ext cx="7837714" cy="6858000"/>
          </a:xfrm>
          <a:prstGeom prst="rect">
            <a:avLst/>
          </a:prstGeom>
        </p:spPr>
      </p:pic>
      <p:pic>
        <p:nvPicPr>
          <p:cNvPr id="6" name="Picture 6" descr="Mus (genus) - Wikipedia">
            <a:extLst>
              <a:ext uri="{FF2B5EF4-FFF2-40B4-BE49-F238E27FC236}">
                <a16:creationId xmlns:a16="http://schemas.microsoft.com/office/drawing/2014/main" id="{BEF43550-DA37-ABAD-4AD8-27C4EC65AD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8800"/>
                    </a14:imgEffect>
                    <a14:imgEffect>
                      <a14:saturation sat="66000"/>
                    </a14:imgEffect>
                    <a14:imgEffect>
                      <a14:brightnessContrast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161" y="2600325"/>
            <a:ext cx="2762250" cy="1657350"/>
          </a:xfrm>
          <a:prstGeom prst="rect">
            <a:avLst/>
          </a:prstGeom>
          <a:noFill/>
          <a:effectLst>
            <a:softEdge rad="3175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518FFF9E-1C8D-D028-C3C3-D10BF7284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569" y="0"/>
            <a:ext cx="10515600" cy="1325563"/>
          </a:xfrm>
        </p:spPr>
        <p:txBody>
          <a:bodyPr/>
          <a:lstStyle/>
          <a:p>
            <a:r>
              <a:rPr lang="en-US" dirty="0" err="1"/>
              <a:t>Rezultati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11964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graph with lines and numbers&#10;&#10;AI-generated content may be incorrect.">
            <a:extLst>
              <a:ext uri="{FF2B5EF4-FFF2-40B4-BE49-F238E27FC236}">
                <a16:creationId xmlns:a16="http://schemas.microsoft.com/office/drawing/2014/main" id="{05DB589E-228D-E1AE-FF61-2893822495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589" y="1538817"/>
            <a:ext cx="11050822" cy="3674397"/>
          </a:xfrm>
          <a:prstGeom prst="rect">
            <a:avLst/>
          </a:prstGeom>
          <a:ln>
            <a:noFill/>
          </a:ln>
        </p:spPr>
      </p:pic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605CBA-A1BE-364B-09C1-7208BB6B2F77}"/>
              </a:ext>
            </a:extLst>
          </p:cNvPr>
          <p:cNvSpPr txBox="1"/>
          <p:nvPr/>
        </p:nvSpPr>
        <p:spPr>
          <a:xfrm>
            <a:off x="1912717" y="5003674"/>
            <a:ext cx="60940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43127 times </a:t>
            </a:r>
            <a:endParaRPr lang="en-US" sz="1800" dirty="0"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9FCF84-E619-64D7-FE62-BAA2B5A4D869}"/>
              </a:ext>
            </a:extLst>
          </p:cNvPr>
          <p:cNvSpPr txBox="1"/>
          <p:nvPr/>
        </p:nvSpPr>
        <p:spPr>
          <a:xfrm>
            <a:off x="5772889" y="5003674"/>
            <a:ext cx="60940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10219 times </a:t>
            </a:r>
            <a:endParaRPr lang="en-US" sz="1800" dirty="0">
              <a:latin typeface="+mn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F454AA-65B1-6F25-A9F5-8141919DFAB3}"/>
              </a:ext>
            </a:extLst>
          </p:cNvPr>
          <p:cNvSpPr txBox="1"/>
          <p:nvPr/>
        </p:nvSpPr>
        <p:spPr>
          <a:xfrm>
            <a:off x="9544612" y="5003674"/>
            <a:ext cx="60940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8 times</a:t>
            </a:r>
            <a:endParaRPr lang="en-US" sz="1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248459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oup of graphs and charts&#10;&#10;AI-generated content may be incorrect.">
            <a:extLst>
              <a:ext uri="{FF2B5EF4-FFF2-40B4-BE49-F238E27FC236}">
                <a16:creationId xmlns:a16="http://schemas.microsoft.com/office/drawing/2014/main" id="{722CDBDB-A71F-8A97-A39D-8F6CB4D293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6512" y="0"/>
            <a:ext cx="7789762" cy="6816043"/>
          </a:xfrm>
        </p:spPr>
      </p:pic>
      <p:pic>
        <p:nvPicPr>
          <p:cNvPr id="6" name="Picture 8" descr="Phineas and Ferb Theory: Why Perry the Platypus Lives With the Family">
            <a:extLst>
              <a:ext uri="{FF2B5EF4-FFF2-40B4-BE49-F238E27FC236}">
                <a16:creationId xmlns:a16="http://schemas.microsoft.com/office/drawing/2014/main" id="{F38B5A31-3025-3312-05D2-27C603DA8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071" y="2765069"/>
            <a:ext cx="3374572" cy="1687286"/>
          </a:xfrm>
          <a:prstGeom prst="rect">
            <a:avLst/>
          </a:prstGeom>
          <a:noFill/>
          <a:effectLst>
            <a:softEdge rad="3175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B486834E-2E85-2234-160E-5CA50B562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569" y="0"/>
            <a:ext cx="10515600" cy="1325563"/>
          </a:xfrm>
        </p:spPr>
        <p:txBody>
          <a:bodyPr/>
          <a:lstStyle/>
          <a:p>
            <a:r>
              <a:rPr lang="en-US" dirty="0" err="1"/>
              <a:t>Rezultati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69543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78A8B7-E281-3F71-11CD-840FB7A6A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1B8EF4A-7540-D91F-C183-96E4E1B1AC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C86C24E-02C4-D19D-D109-6B287ADDBE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5CDEEE-60D7-F387-88D8-58A5643D9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AD5BFE6-25BB-8D95-D88E-FA1B0B69FE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B64FC5B-6DE7-2205-FD10-B5F5F873A7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42447A5C-F850-81C7-46DB-2A97606275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2651BF5D-D704-F476-0A9F-64A2A023FC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C94CCD-2557-3515-784C-46425BAC953D}"/>
              </a:ext>
            </a:extLst>
          </p:cNvPr>
          <p:cNvSpPr txBox="1"/>
          <p:nvPr/>
        </p:nvSpPr>
        <p:spPr>
          <a:xfrm>
            <a:off x="1912717" y="5003674"/>
            <a:ext cx="60940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10896</a:t>
            </a:r>
            <a:r>
              <a:rPr lang="en-US" sz="1800" dirty="0"/>
              <a:t> times </a:t>
            </a:r>
            <a:endParaRPr lang="en-US" sz="1800" dirty="0"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84A0A8-91BB-161E-ED93-98C6FF94BCE5}"/>
              </a:ext>
            </a:extLst>
          </p:cNvPr>
          <p:cNvSpPr txBox="1"/>
          <p:nvPr/>
        </p:nvSpPr>
        <p:spPr>
          <a:xfrm>
            <a:off x="5772889" y="5003674"/>
            <a:ext cx="60940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1 time </a:t>
            </a:r>
            <a:endParaRPr lang="en-US" sz="1800" dirty="0">
              <a:latin typeface="+mn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6DD695-005E-5559-4FD5-64D5A0F83B93}"/>
              </a:ext>
            </a:extLst>
          </p:cNvPr>
          <p:cNvSpPr txBox="1"/>
          <p:nvPr/>
        </p:nvSpPr>
        <p:spPr>
          <a:xfrm>
            <a:off x="9544612" y="5003674"/>
            <a:ext cx="60940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0</a:t>
            </a:r>
            <a:r>
              <a:rPr lang="en-US" sz="1800" dirty="0"/>
              <a:t> times</a:t>
            </a:r>
            <a:endParaRPr lang="en-US" sz="1800" dirty="0">
              <a:latin typeface="+mn-lt"/>
            </a:endParaRPr>
          </a:p>
        </p:txBody>
      </p:sp>
      <p:pic>
        <p:nvPicPr>
          <p:cNvPr id="9" name="Content Placeholder 8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A267976B-46D1-7532-88D1-9D69B9F702A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81314"/>
            <a:ext cx="10515600" cy="3505199"/>
          </a:xfrm>
        </p:spPr>
      </p:pic>
    </p:spTree>
    <p:extLst>
      <p:ext uri="{BB962C8B-B14F-4D97-AF65-F5344CB8AC3E}">
        <p14:creationId xmlns:p14="http://schemas.microsoft.com/office/powerpoint/2010/main" val="1951759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3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4D1E2"/>
      </a:accent1>
      <a:accent2>
        <a:srgbClr val="94D1E2"/>
      </a:accent2>
      <a:accent3>
        <a:srgbClr val="37A76F"/>
      </a:accent3>
      <a:accent4>
        <a:srgbClr val="63A537"/>
      </a:accent4>
      <a:accent5>
        <a:srgbClr val="4EB3CF"/>
      </a:accent5>
      <a:accent6>
        <a:srgbClr val="00B050"/>
      </a:accent6>
      <a:hlink>
        <a:srgbClr val="EE7B08"/>
      </a:hlink>
      <a:folHlink>
        <a:srgbClr val="977B2D"/>
      </a:folHlink>
    </a:clrScheme>
    <a:fontScheme name="Tw Cen MT">
      <a:majorFont>
        <a:latin typeface="Tw Cen MT" panose="020B0602020104020603"/>
        <a:ea typeface=""/>
        <a:cs typeface=""/>
        <a:font script="Grek" typeface="Calibri"/>
        <a:font script="Cyrl" typeface="Calibri"/>
        <a:font script="Jpan" typeface="HGPｺﾞｼｯｸE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HGPｺﾞｼｯｸE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FDC1CB67652CC49BBC4C0DC64701AFE" ma:contentTypeVersion="6" ma:contentTypeDescription="Create a new document." ma:contentTypeScope="" ma:versionID="47c51e3d8c3684639eba9edc36ee1317">
  <xsd:schema xmlns:xsd="http://www.w3.org/2001/XMLSchema" xmlns:xs="http://www.w3.org/2001/XMLSchema" xmlns:p="http://schemas.microsoft.com/office/2006/metadata/properties" xmlns:ns3="11c53111-f57e-45e2-a6ce-65cc5a06d54d" targetNamespace="http://schemas.microsoft.com/office/2006/metadata/properties" ma:root="true" ma:fieldsID="19a7e614ce1885078e28496a8f6e0502" ns3:_="">
    <xsd:import namespace="11c53111-f57e-45e2-a6ce-65cc5a06d54d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1c53111-f57e-45e2-a6ce-65cc5a06d54d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1c53111-f57e-45e2-a6ce-65cc5a06d54d" xsi:nil="true"/>
  </documentManagement>
</p:properties>
</file>

<file path=customXml/itemProps1.xml><?xml version="1.0" encoding="utf-8"?>
<ds:datastoreItem xmlns:ds="http://schemas.openxmlformats.org/officeDocument/2006/customXml" ds:itemID="{D0C6FEA5-17B0-43BE-A4C3-60AD7FF98DF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1c53111-f57e-45e2-a6ce-65cc5a06d54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499CC31-CDEE-4A5D-B53D-0E2E90D6DE2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BFE50ED-0010-4EB0-A3EA-FAFD2BD62ECE}">
  <ds:schemaRefs>
    <ds:schemaRef ds:uri="http://purl.org/dc/elements/1.1/"/>
    <ds:schemaRef ds:uri="http://purl.org/dc/terms/"/>
    <ds:schemaRef ds:uri="http://www.w3.org/XML/1998/namespace"/>
    <ds:schemaRef ds:uri="http://purl.org/dc/dcmitype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11c53111-f57e-45e2-a6ce-65cc5a06d54d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357</TotalTime>
  <Words>672</Words>
  <Application>Microsoft Office PowerPoint</Application>
  <PresentationFormat>Widescreen</PresentationFormat>
  <Paragraphs>260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Arial</vt:lpstr>
      <vt:lpstr>Inter</vt:lpstr>
      <vt:lpstr>Tw Cen MT</vt:lpstr>
      <vt:lpstr>Office Theme</vt:lpstr>
      <vt:lpstr>Burrows-Wheeler transformacija i FM index</vt:lpstr>
      <vt:lpstr>Burrows-Wheeler transformacija</vt:lpstr>
      <vt:lpstr>Analizirani genomi</vt:lpstr>
      <vt:lpstr>Optimizacije</vt:lpstr>
      <vt:lpstr>Checkpoints i uzorkovanje SA na prostom primeru – BANANA  L : A, N, N, B, $, A, A </vt:lpstr>
      <vt:lpstr>Rezultati</vt:lpstr>
      <vt:lpstr>PowerPoint Presentation</vt:lpstr>
      <vt:lpstr>Rezultati</vt:lpstr>
      <vt:lpstr>PowerPoint Presentation</vt:lpstr>
      <vt:lpstr>Rezultati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Анастасија Ракић</dc:creator>
  <cp:lastModifiedBy>Анастасија Ракић</cp:lastModifiedBy>
  <cp:revision>4</cp:revision>
  <dcterms:created xsi:type="dcterms:W3CDTF">2025-09-08T11:35:46Z</dcterms:created>
  <dcterms:modified xsi:type="dcterms:W3CDTF">2025-09-25T14:17:16Z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0x010100CFDC1CB67652CC49BBC4C0DC64701AFE</vt:lpwstr>
  </property>
</Properties>
</file>